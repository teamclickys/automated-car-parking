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9"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0" d="100"/>
          <a:sy n="90" d="100"/>
        </p:scale>
        <p:origin x="1356" y="4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4b11ee076" userId="96113220-0191-443e-b3a8-9b0a51dfb092" providerId="ADAL" clId="{EF04334A-15B0-46C4-AF7E-76AD90C61FD8}"/>
    <pc:docChg chg="modSld">
      <pc:chgData name="24b11ee076" userId="96113220-0191-443e-b3a8-9b0a51dfb092" providerId="ADAL" clId="{EF04334A-15B0-46C4-AF7E-76AD90C61FD8}" dt="2026-09-15T05:21:01.235" v="10" actId="1076"/>
      <pc:docMkLst>
        <pc:docMk/>
      </pc:docMkLst>
      <pc:sldChg chg="addSp delSp modSp mod">
        <pc:chgData name="24b11ee076" userId="96113220-0191-443e-b3a8-9b0a51dfb092" providerId="ADAL" clId="{EF04334A-15B0-46C4-AF7E-76AD90C61FD8}" dt="2026-09-15T05:20:41.355" v="8"/>
        <pc:sldMkLst>
          <pc:docMk/>
          <pc:sldMk cId="0" sldId="256"/>
        </pc:sldMkLst>
        <pc:spChg chg="add del mod">
          <ac:chgData name="24b11ee076" userId="96113220-0191-443e-b3a8-9b0a51dfb092" providerId="ADAL" clId="{EF04334A-15B0-46C4-AF7E-76AD90C61FD8}" dt="2026-09-15T05:20:41.355" v="8"/>
          <ac:spMkLst>
            <pc:docMk/>
            <pc:sldMk cId="0" sldId="256"/>
            <ac:spMk id="11" creationId="{30A7B4F1-8D15-212D-2749-F90112D0B350}"/>
          </ac:spMkLst>
        </pc:spChg>
        <pc:picChg chg="mod">
          <ac:chgData name="24b11ee076" userId="96113220-0191-443e-b3a8-9b0a51dfb092" providerId="ADAL" clId="{EF04334A-15B0-46C4-AF7E-76AD90C61FD8}" dt="2026-09-15T05:18:58.783" v="4"/>
          <ac:picMkLst>
            <pc:docMk/>
            <pc:sldMk cId="0" sldId="256"/>
            <ac:picMk id="2" creationId="{00000000-0000-0000-0000-000000000000}"/>
          </ac:picMkLst>
        </pc:picChg>
      </pc:sldChg>
      <pc:sldChg chg="addSp modSp mod">
        <pc:chgData name="24b11ee076" userId="96113220-0191-443e-b3a8-9b0a51dfb092" providerId="ADAL" clId="{EF04334A-15B0-46C4-AF7E-76AD90C61FD8}" dt="2026-09-15T05:21:01.235" v="10" actId="1076"/>
        <pc:sldMkLst>
          <pc:docMk/>
          <pc:sldMk cId="0" sldId="263"/>
        </pc:sldMkLst>
        <pc:spChg chg="add mod">
          <ac:chgData name="24b11ee076" userId="96113220-0191-443e-b3a8-9b0a51dfb092" providerId="ADAL" clId="{EF04334A-15B0-46C4-AF7E-76AD90C61FD8}" dt="2026-09-15T05:21:01.235" v="10" actId="1076"/>
          <ac:spMkLst>
            <pc:docMk/>
            <pc:sldMk cId="0" sldId="263"/>
            <ac:spMk id="11" creationId="{EDDF3EBF-AD3D-87AA-39AA-00C93C3AE36D}"/>
          </ac:spMkLst>
        </pc:spChg>
        <pc:picChg chg="mod">
          <ac:chgData name="24b11ee076" userId="96113220-0191-443e-b3a8-9b0a51dfb092" providerId="ADAL" clId="{EF04334A-15B0-46C4-AF7E-76AD90C61FD8}" dt="2026-09-15T05:19:51.825" v="5"/>
          <ac:picMkLst>
            <pc:docMk/>
            <pc:sldMk cId="0" sldId="263"/>
            <ac:picMk id="2"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5.png"/><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5.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9.png"/><Relationship Id="rId18" Type="http://schemas.openxmlformats.org/officeDocument/2006/relationships/image" Target="../media/image44.png"/><Relationship Id="rId3" Type="http://schemas.openxmlformats.org/officeDocument/2006/relationships/image" Target="../media/image30.png"/><Relationship Id="rId21" Type="http://schemas.openxmlformats.org/officeDocument/2006/relationships/image" Target="../media/image3.png"/><Relationship Id="rId7" Type="http://schemas.openxmlformats.org/officeDocument/2006/relationships/image" Target="../media/image34.png"/><Relationship Id="rId12" Type="http://schemas.openxmlformats.org/officeDocument/2006/relationships/image" Target="../media/image38.png"/><Relationship Id="rId17" Type="http://schemas.openxmlformats.org/officeDocument/2006/relationships/image" Target="../media/image43.png"/><Relationship Id="rId2" Type="http://schemas.openxmlformats.org/officeDocument/2006/relationships/image" Target="../media/image4.png"/><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png"/><Relationship Id="rId5" Type="http://schemas.openxmlformats.org/officeDocument/2006/relationships/image" Target="../media/image32.png"/><Relationship Id="rId15" Type="http://schemas.openxmlformats.org/officeDocument/2006/relationships/image" Target="../media/image41.png"/><Relationship Id="rId10" Type="http://schemas.openxmlformats.org/officeDocument/2006/relationships/image" Target="../media/image37.png"/><Relationship Id="rId19" Type="http://schemas.openxmlformats.org/officeDocument/2006/relationships/image" Target="../media/image45.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0.png"/></Relationships>
</file>

<file path=ppt/slides/_rels/slide7.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5.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4.png"/><Relationship Id="rId5" Type="http://schemas.openxmlformats.org/officeDocument/2006/relationships/image" Target="../media/image49.png"/><Relationship Id="rId10" Type="http://schemas.openxmlformats.org/officeDocument/2006/relationships/image" Target="../media/image5.png"/><Relationship Id="rId4" Type="http://schemas.openxmlformats.org/officeDocument/2006/relationships/image" Target="../media/image48.png"/><Relationship Id="rId9" Type="http://schemas.openxmlformats.org/officeDocument/2006/relationships/image" Target="../media/image53.png"/></Relationships>
</file>

<file path=ppt/slides/_rels/slide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4.png"/><Relationship Id="rId3" Type="http://schemas.openxmlformats.org/officeDocument/2006/relationships/image" Target="../media/image4.png"/><Relationship Id="rId7" Type="http://schemas.openxmlformats.org/officeDocument/2006/relationships/image" Target="../media/image59.png"/><Relationship Id="rId12" Type="http://schemas.openxmlformats.org/officeDocument/2006/relationships/image" Target="../media/image63.png"/><Relationship Id="rId17" Type="http://schemas.openxmlformats.org/officeDocument/2006/relationships/hyperlink" Target="https://drive.google.com/file/d/1xlCHq_maRsiIqmdQXVsxad6pYqJBEqmQ/view?usp=sharing" TargetMode="External"/><Relationship Id="rId2" Type="http://schemas.openxmlformats.org/officeDocument/2006/relationships/slide" Target="slide8.xml"/><Relationship Id="rId16" Type="http://schemas.openxmlformats.org/officeDocument/2006/relationships/image" Target="../media/image66.jpg"/><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5.png"/><Relationship Id="rId5" Type="http://schemas.openxmlformats.org/officeDocument/2006/relationships/image" Target="../media/image57.png"/><Relationship Id="rId15" Type="http://schemas.openxmlformats.org/officeDocument/2006/relationships/image" Target="../media/image3.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5.png"/></Relationships>
</file>

<file path=ppt/slides/_rels/slide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5.png"/><Relationship Id="rId7" Type="http://schemas.openxmlformats.org/officeDocument/2006/relationships/image" Target="../media/image7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10" Type="http://schemas.openxmlformats.org/officeDocument/2006/relationships/image" Target="../media/image3.png"/><Relationship Id="rId4" Type="http://schemas.openxmlformats.org/officeDocument/2006/relationships/image" Target="../media/image67.png"/><Relationship Id="rId9" Type="http://schemas.openxmlformats.org/officeDocument/2006/relationships/image" Target="../media/image72.png"/></Relationships>
</file>

<file path=ppt/slides/_rels/slide1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6.png"/><Relationship Id="rId11" Type="http://schemas.openxmlformats.org/officeDocument/2006/relationships/image" Target="../media/image3.png"/><Relationship Id="rId5" Type="http://schemas.openxmlformats.org/officeDocument/2006/relationships/image" Target="../media/image75.png"/><Relationship Id="rId10" Type="http://schemas.openxmlformats.org/officeDocument/2006/relationships/image" Target="../media/image64.png"/><Relationship Id="rId4" Type="http://schemas.openxmlformats.org/officeDocument/2006/relationships/image" Target="../media/image74.png"/><Relationship Id="rId9"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a:hlinkClick r:id="rId2" action="ppaction://hlinksldjump"/>
          </p:cNvPr>
          <p:cNvPicPr>
            <a:picLocks noChangeAspect="1"/>
          </p:cNvPicPr>
          <p:nvPr/>
        </p:nvPicPr>
        <p:blipFill>
          <a:blip r:embed="rId3"/>
          <a:stretch>
            <a:fillRect/>
          </a:stretch>
        </p:blipFill>
        <p:spPr>
          <a:xfrm>
            <a:off x="-1" y="1238250"/>
            <a:ext cx="12192000" cy="5343525"/>
          </a:xfrm>
          <a:prstGeom prst="rect">
            <a:avLst/>
          </a:prstGeom>
        </p:spPr>
      </p:pic>
      <p:pic>
        <p:nvPicPr>
          <p:cNvPr id="3" name="Picture 2" descr="image.png"/>
          <p:cNvPicPr>
            <a:picLocks noChangeAspect="1"/>
          </p:cNvPicPr>
          <p:nvPr/>
        </p:nvPicPr>
        <p:blipFill>
          <a:blip r:embed="rId4"/>
          <a:stretch>
            <a:fillRect/>
          </a:stretch>
        </p:blipFill>
        <p:spPr>
          <a:xfrm>
            <a:off x="2828925" y="3162300"/>
            <a:ext cx="6534150" cy="1609725"/>
          </a:xfrm>
          <a:prstGeom prst="rect">
            <a:avLst/>
          </a:prstGeom>
        </p:spPr>
      </p:pic>
      <p:sp>
        <p:nvSpPr>
          <p:cNvPr id="4" name="TextBox 3"/>
          <p:cNvSpPr txBox="1"/>
          <p:nvPr/>
        </p:nvSpPr>
        <p:spPr>
          <a:xfrm>
            <a:off x="1110376" y="571500"/>
            <a:ext cx="9971246" cy="492443"/>
          </a:xfrm>
          <a:prstGeom prst="rect">
            <a:avLst/>
          </a:prstGeom>
          <a:noFill/>
        </p:spPr>
        <p:txBody>
          <a:bodyPr wrap="square" lIns="0" tIns="0" rIns="0" bIns="0" anchor="t">
            <a:spAutoFit/>
          </a:bodyPr>
          <a:lstStyle/>
          <a:p>
            <a:pPr algn="ctr"/>
            <a:r>
              <a:rPr sz="3200" b="1" i="0" u="none" dirty="0">
                <a:solidFill>
                  <a:srgbClr val="1E293B"/>
                </a:solidFill>
                <a:latin typeface="Oswald"/>
              </a:rPr>
              <a:t>AUTOMATED CAR PARKING SYSTEM</a:t>
            </a:r>
          </a:p>
        </p:txBody>
      </p:sp>
      <p:sp>
        <p:nvSpPr>
          <p:cNvPr id="5" name="TextBox 4"/>
          <p:cNvSpPr txBox="1"/>
          <p:nvPr/>
        </p:nvSpPr>
        <p:spPr>
          <a:xfrm>
            <a:off x="3267075" y="1685925"/>
            <a:ext cx="5657850" cy="485775"/>
          </a:xfrm>
          <a:prstGeom prst="rect">
            <a:avLst/>
          </a:prstGeom>
          <a:noFill/>
        </p:spPr>
        <p:txBody>
          <a:bodyPr wrap="square" lIns="0" tIns="0" rIns="0" bIns="0" anchor="t">
            <a:spAutoFit/>
          </a:bodyPr>
          <a:lstStyle/>
          <a:p>
            <a:pPr algn="ctr"/>
            <a:r>
              <a:rPr sz="3150" b="0" i="0" u="none" dirty="0">
                <a:solidFill>
                  <a:srgbClr val="334155"/>
                </a:solidFill>
                <a:latin typeface="Inter Medium"/>
              </a:rPr>
              <a:t>Cornerstone Project Review-1</a:t>
            </a:r>
          </a:p>
        </p:txBody>
      </p:sp>
      <p:sp>
        <p:nvSpPr>
          <p:cNvPr id="6" name="TextBox 5"/>
          <p:cNvSpPr txBox="1"/>
          <p:nvPr/>
        </p:nvSpPr>
        <p:spPr>
          <a:xfrm>
            <a:off x="2976562" y="2362200"/>
            <a:ext cx="6238875" cy="323850"/>
          </a:xfrm>
          <a:prstGeom prst="rect">
            <a:avLst/>
          </a:prstGeom>
          <a:noFill/>
        </p:spPr>
        <p:txBody>
          <a:bodyPr wrap="square" lIns="0" tIns="0" rIns="0" bIns="0" anchor="t">
            <a:spAutoFit/>
          </a:bodyPr>
          <a:lstStyle/>
          <a:p>
            <a:pPr algn="ctr"/>
            <a:r>
              <a:rPr sz="2100" b="0" i="0" u="none">
                <a:solidFill>
                  <a:srgbClr val="475569"/>
                </a:solidFill>
                <a:latin typeface="Inter"/>
              </a:rPr>
              <a:t>Department of Electrical &amp; Electronic Engineering</a:t>
            </a:r>
          </a:p>
        </p:txBody>
      </p:sp>
      <p:sp>
        <p:nvSpPr>
          <p:cNvPr id="8" name="TextBox 7"/>
          <p:cNvSpPr txBox="1"/>
          <p:nvPr/>
        </p:nvSpPr>
        <p:spPr>
          <a:xfrm>
            <a:off x="3362325" y="3476625"/>
            <a:ext cx="5524500" cy="276225"/>
          </a:xfrm>
          <a:prstGeom prst="rect">
            <a:avLst/>
          </a:prstGeom>
          <a:noFill/>
        </p:spPr>
        <p:txBody>
          <a:bodyPr wrap="square" lIns="0" tIns="0" rIns="0" bIns="0" anchor="t">
            <a:spAutoFit/>
          </a:bodyPr>
          <a:lstStyle/>
          <a:p>
            <a:pPr algn="ctr"/>
            <a:r>
              <a:rPr sz="1800" b="0" i="0" u="none">
                <a:solidFill>
                  <a:srgbClr val="0F172A"/>
                </a:solidFill>
                <a:latin typeface="Inter Medium"/>
              </a:rPr>
              <a:t>MUDHLEYO THEOPHELOUS (Roll No: 24B11EE076)</a:t>
            </a:r>
          </a:p>
        </p:txBody>
      </p:sp>
      <p:sp>
        <p:nvSpPr>
          <p:cNvPr id="9" name="TextBox 8"/>
          <p:cNvSpPr txBox="1"/>
          <p:nvPr/>
        </p:nvSpPr>
        <p:spPr>
          <a:xfrm>
            <a:off x="3362325" y="3829050"/>
            <a:ext cx="5524500" cy="276225"/>
          </a:xfrm>
          <a:prstGeom prst="rect">
            <a:avLst/>
          </a:prstGeom>
          <a:noFill/>
        </p:spPr>
        <p:txBody>
          <a:bodyPr wrap="square" lIns="0" tIns="0" rIns="0" bIns="0" anchor="t">
            <a:spAutoFit/>
          </a:bodyPr>
          <a:lstStyle/>
          <a:p>
            <a:pPr algn="ctr"/>
            <a:r>
              <a:rPr sz="1800" b="0" i="0" u="none">
                <a:solidFill>
                  <a:srgbClr val="0F172A"/>
                </a:solidFill>
                <a:latin typeface="Inter Medium"/>
              </a:rPr>
              <a:t>MATENDE TREVOR (Roll No: 24B11EE078)</a:t>
            </a:r>
          </a:p>
        </p:txBody>
      </p:sp>
      <p:sp>
        <p:nvSpPr>
          <p:cNvPr id="10" name="TextBox 9"/>
          <p:cNvSpPr txBox="1"/>
          <p:nvPr/>
        </p:nvSpPr>
        <p:spPr>
          <a:xfrm>
            <a:off x="3362325" y="4181475"/>
            <a:ext cx="5524500" cy="276225"/>
          </a:xfrm>
          <a:prstGeom prst="rect">
            <a:avLst/>
          </a:prstGeom>
          <a:noFill/>
        </p:spPr>
        <p:txBody>
          <a:bodyPr wrap="square" lIns="0" tIns="0" rIns="0" bIns="0" anchor="t">
            <a:spAutoFit/>
          </a:bodyPr>
          <a:lstStyle/>
          <a:p>
            <a:pPr algn="ctr"/>
            <a:r>
              <a:rPr sz="1800" b="0" i="0" u="none">
                <a:solidFill>
                  <a:srgbClr val="0F172A"/>
                </a:solidFill>
                <a:latin typeface="Inter Medium"/>
              </a:rPr>
              <a:t>CHEYYETI VEERABABU (Roll No: 25B21EE001)</a:t>
            </a:r>
          </a:p>
        </p:txBody>
      </p:sp>
      <p:pic>
        <p:nvPicPr>
          <p:cNvPr id="13" name="Picture 12">
            <a:extLst>
              <a:ext uri="{FF2B5EF4-FFF2-40B4-BE49-F238E27FC236}">
                <a16:creationId xmlns:a16="http://schemas.microsoft.com/office/drawing/2014/main" id="{29F54A21-4906-0020-BE95-68332C90A9BB}"/>
              </a:ext>
            </a:extLst>
          </p:cNvPr>
          <p:cNvPicPr>
            <a:picLocks noChangeAspect="1"/>
          </p:cNvPicPr>
          <p:nvPr/>
        </p:nvPicPr>
        <p:blipFill>
          <a:blip r:embed="rId5"/>
          <a:stretch>
            <a:fillRect/>
          </a:stretch>
        </p:blipFill>
        <p:spPr>
          <a:xfrm>
            <a:off x="0" y="95240"/>
            <a:ext cx="2870059" cy="10190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66750"/>
          </a:xfrm>
          <a:prstGeom prst="rect">
            <a:avLst/>
          </a:prstGeom>
        </p:spPr>
      </p:pic>
      <p:sp>
        <p:nvSpPr>
          <p:cNvPr id="4" name="TextBox 3"/>
          <p:cNvSpPr txBox="1"/>
          <p:nvPr/>
        </p:nvSpPr>
        <p:spPr>
          <a:xfrm>
            <a:off x="381000" y="180975"/>
            <a:ext cx="4657725" cy="276225"/>
          </a:xfrm>
          <a:prstGeom prst="rect">
            <a:avLst/>
          </a:prstGeom>
          <a:noFill/>
        </p:spPr>
        <p:txBody>
          <a:bodyPr wrap="square" lIns="0" tIns="0" rIns="0" bIns="0" anchor="t">
            <a:spAutoFit/>
          </a:bodyPr>
          <a:lstStyle/>
          <a:p>
            <a:pPr algn="l"/>
            <a:r>
              <a:rPr sz="1800" b="0" i="0" u="none" dirty="0">
                <a:solidFill>
                  <a:srgbClr val="1E293B"/>
                </a:solidFill>
                <a:latin typeface="Inter SemiBold"/>
              </a:rPr>
              <a:t>PROJECT PIPELI</a:t>
            </a:r>
            <a:r>
              <a:rPr lang="en-US" dirty="0">
                <a:solidFill>
                  <a:srgbClr val="1E293B"/>
                </a:solidFill>
                <a:latin typeface="Inter SemiBold"/>
              </a:rPr>
              <a:t>NE &amp; CONTENT</a:t>
            </a:r>
            <a:endParaRPr sz="1800" b="0" i="0" u="none" dirty="0">
              <a:solidFill>
                <a:srgbClr val="1E293B"/>
              </a:solidFill>
              <a:latin typeface="Inter SemiBold"/>
            </a:endParaRPr>
          </a:p>
        </p:txBody>
      </p:sp>
      <p:pic>
        <p:nvPicPr>
          <p:cNvPr id="6" name="Picture 5" descr="image.png"/>
          <p:cNvPicPr>
            <a:picLocks noChangeAspect="1"/>
          </p:cNvPicPr>
          <p:nvPr/>
        </p:nvPicPr>
        <p:blipFill>
          <a:blip r:embed="rId4"/>
          <a:stretch>
            <a:fillRect/>
          </a:stretch>
        </p:blipFill>
        <p:spPr>
          <a:xfrm>
            <a:off x="1866900" y="4067175"/>
            <a:ext cx="1428750" cy="1143000"/>
          </a:xfrm>
          <a:prstGeom prst="rect">
            <a:avLst/>
          </a:prstGeom>
        </p:spPr>
      </p:pic>
      <p:pic>
        <p:nvPicPr>
          <p:cNvPr id="7" name="Picture 6" descr="image.png"/>
          <p:cNvPicPr>
            <a:picLocks noChangeAspect="1"/>
          </p:cNvPicPr>
          <p:nvPr/>
        </p:nvPicPr>
        <p:blipFill>
          <a:blip r:embed="rId5"/>
          <a:stretch>
            <a:fillRect/>
          </a:stretch>
        </p:blipFill>
        <p:spPr>
          <a:xfrm>
            <a:off x="4438650" y="4067175"/>
            <a:ext cx="1428750" cy="1143000"/>
          </a:xfrm>
          <a:prstGeom prst="rect">
            <a:avLst/>
          </a:prstGeom>
        </p:spPr>
      </p:pic>
      <p:pic>
        <p:nvPicPr>
          <p:cNvPr id="8" name="Picture 7" descr="image.png"/>
          <p:cNvPicPr>
            <a:picLocks noChangeAspect="1"/>
          </p:cNvPicPr>
          <p:nvPr/>
        </p:nvPicPr>
        <p:blipFill>
          <a:blip r:embed="rId6"/>
          <a:stretch>
            <a:fillRect/>
          </a:stretch>
        </p:blipFill>
        <p:spPr>
          <a:xfrm>
            <a:off x="7010400" y="3876675"/>
            <a:ext cx="1666875" cy="1333500"/>
          </a:xfrm>
          <a:prstGeom prst="rect">
            <a:avLst/>
          </a:prstGeom>
        </p:spPr>
      </p:pic>
      <p:pic>
        <p:nvPicPr>
          <p:cNvPr id="9" name="Picture 8" descr="image.png"/>
          <p:cNvPicPr>
            <a:picLocks noChangeAspect="1"/>
          </p:cNvPicPr>
          <p:nvPr/>
        </p:nvPicPr>
        <p:blipFill>
          <a:blip r:embed="rId7"/>
          <a:stretch>
            <a:fillRect/>
          </a:stretch>
        </p:blipFill>
        <p:spPr>
          <a:xfrm>
            <a:off x="9820275" y="4352925"/>
            <a:ext cx="504825" cy="571500"/>
          </a:xfrm>
          <a:prstGeom prst="rect">
            <a:avLst/>
          </a:prstGeom>
        </p:spPr>
      </p:pic>
      <p:pic>
        <p:nvPicPr>
          <p:cNvPr id="10" name="Picture 9" descr="image.png"/>
          <p:cNvPicPr>
            <a:picLocks noChangeAspect="1"/>
          </p:cNvPicPr>
          <p:nvPr/>
        </p:nvPicPr>
        <p:blipFill>
          <a:blip r:embed="rId8"/>
          <a:stretch>
            <a:fillRect/>
          </a:stretch>
        </p:blipFill>
        <p:spPr>
          <a:xfrm>
            <a:off x="1119187" y="1147762"/>
            <a:ext cx="428625" cy="342900"/>
          </a:xfrm>
          <a:prstGeom prst="rect">
            <a:avLst/>
          </a:prstGeom>
        </p:spPr>
      </p:pic>
      <p:sp>
        <p:nvSpPr>
          <p:cNvPr id="11" name="Rounded Rectangle 10"/>
          <p:cNvSpPr/>
          <p:nvPr/>
        </p:nvSpPr>
        <p:spPr>
          <a:xfrm>
            <a:off x="952500" y="1719262"/>
            <a:ext cx="762000" cy="762000"/>
          </a:xfrm>
          <a:prstGeom prst="roundRect">
            <a:avLst>
              <a:gd name="adj" fmla="val 50000"/>
            </a:avLst>
          </a:prstGeom>
          <a:solidFill>
            <a:srgbClr val="22C55E"/>
          </a:solidFill>
          <a:ln w="7620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437" y="2624137"/>
            <a:ext cx="1000125" cy="200025"/>
          </a:xfrm>
          <a:prstGeom prst="rect">
            <a:avLst/>
          </a:prstGeom>
          <a:noFill/>
        </p:spPr>
        <p:txBody>
          <a:bodyPr wrap="square" lIns="0" tIns="0" rIns="0" bIns="0" anchor="t">
            <a:spAutoFit/>
          </a:bodyPr>
          <a:lstStyle/>
          <a:p>
            <a:pPr algn="ctr"/>
            <a:r>
              <a:rPr sz="1350" b="0" i="0" u="none">
                <a:solidFill>
                  <a:srgbClr val="1E293B"/>
                </a:solidFill>
                <a:latin typeface="Inter SemiBold"/>
              </a:rPr>
              <a:t>Introduction</a:t>
            </a:r>
          </a:p>
        </p:txBody>
      </p:sp>
      <p:pic>
        <p:nvPicPr>
          <p:cNvPr id="13" name="Picture 12" descr="image.png"/>
          <p:cNvPicPr>
            <a:picLocks noChangeAspect="1"/>
          </p:cNvPicPr>
          <p:nvPr/>
        </p:nvPicPr>
        <p:blipFill>
          <a:blip r:embed="rId9"/>
          <a:stretch>
            <a:fillRect/>
          </a:stretch>
        </p:blipFill>
        <p:spPr>
          <a:xfrm>
            <a:off x="2522636" y="1147762"/>
            <a:ext cx="342900" cy="342900"/>
          </a:xfrm>
          <a:prstGeom prst="rect">
            <a:avLst/>
          </a:prstGeom>
        </p:spPr>
      </p:pic>
      <p:sp>
        <p:nvSpPr>
          <p:cNvPr id="14" name="Rounded Rectangle 13"/>
          <p:cNvSpPr/>
          <p:nvPr/>
        </p:nvSpPr>
        <p:spPr>
          <a:xfrm>
            <a:off x="2313086" y="1719262"/>
            <a:ext cx="762000" cy="762000"/>
          </a:xfrm>
          <a:prstGeom prst="roundRect">
            <a:avLst>
              <a:gd name="adj" fmla="val 50000"/>
            </a:avLst>
          </a:prstGeom>
          <a:solidFill>
            <a:srgbClr val="22C55E"/>
          </a:solidFill>
          <a:ln w="7620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46424" y="2624137"/>
            <a:ext cx="695325" cy="200025"/>
          </a:xfrm>
          <a:prstGeom prst="rect">
            <a:avLst/>
          </a:prstGeom>
          <a:noFill/>
        </p:spPr>
        <p:txBody>
          <a:bodyPr wrap="square" lIns="0" tIns="0" rIns="0" bIns="0" anchor="t">
            <a:spAutoFit/>
          </a:bodyPr>
          <a:lstStyle/>
          <a:p>
            <a:pPr algn="ctr"/>
            <a:r>
              <a:rPr sz="1350" b="0" i="0" u="none">
                <a:solidFill>
                  <a:srgbClr val="1E293B"/>
                </a:solidFill>
                <a:latin typeface="Inter SemiBold"/>
              </a:rPr>
              <a:t>Abstract</a:t>
            </a:r>
          </a:p>
        </p:txBody>
      </p:sp>
      <p:pic>
        <p:nvPicPr>
          <p:cNvPr id="16" name="Picture 15" descr="image.png"/>
          <p:cNvPicPr>
            <a:picLocks noChangeAspect="1"/>
          </p:cNvPicPr>
          <p:nvPr/>
        </p:nvPicPr>
        <p:blipFill>
          <a:blip r:embed="rId10"/>
          <a:stretch>
            <a:fillRect/>
          </a:stretch>
        </p:blipFill>
        <p:spPr>
          <a:xfrm>
            <a:off x="3902273" y="1047750"/>
            <a:ext cx="304800" cy="342900"/>
          </a:xfrm>
          <a:prstGeom prst="rect">
            <a:avLst/>
          </a:prstGeom>
        </p:spPr>
      </p:pic>
      <p:sp>
        <p:nvSpPr>
          <p:cNvPr id="17" name="Rounded Rectangle 16"/>
          <p:cNvSpPr/>
          <p:nvPr/>
        </p:nvSpPr>
        <p:spPr>
          <a:xfrm>
            <a:off x="3673673" y="1619250"/>
            <a:ext cx="762000" cy="762000"/>
          </a:xfrm>
          <a:prstGeom prst="roundRect">
            <a:avLst>
              <a:gd name="adj" fmla="val 50000"/>
            </a:avLst>
          </a:prstGeom>
          <a:solidFill>
            <a:srgbClr val="22C55E"/>
          </a:solidFill>
          <a:ln w="7620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83173" y="2524125"/>
            <a:ext cx="1143000" cy="400050"/>
          </a:xfrm>
          <a:prstGeom prst="rect">
            <a:avLst/>
          </a:prstGeom>
          <a:noFill/>
        </p:spPr>
        <p:txBody>
          <a:bodyPr wrap="square" lIns="0" tIns="0" rIns="0" bIns="0" anchor="t">
            <a:spAutoFit/>
          </a:bodyPr>
          <a:lstStyle/>
          <a:p>
            <a:pPr algn="ctr"/>
            <a:r>
              <a:rPr sz="1350" b="0" i="0" u="none">
                <a:solidFill>
                  <a:srgbClr val="1E293B"/>
                </a:solidFill>
                <a:latin typeface="Inter SemiBold"/>
              </a:rPr>
              <a:t>Problem &amp; Solution</a:t>
            </a:r>
          </a:p>
        </p:txBody>
      </p:sp>
      <p:pic>
        <p:nvPicPr>
          <p:cNvPr id="19" name="Picture 18" descr="image.png"/>
          <p:cNvPicPr>
            <a:picLocks noChangeAspect="1"/>
          </p:cNvPicPr>
          <p:nvPr/>
        </p:nvPicPr>
        <p:blipFill>
          <a:blip r:embed="rId11"/>
          <a:stretch>
            <a:fillRect/>
          </a:stretch>
        </p:blipFill>
        <p:spPr>
          <a:xfrm>
            <a:off x="5243810" y="1047750"/>
            <a:ext cx="342900" cy="342900"/>
          </a:xfrm>
          <a:prstGeom prst="rect">
            <a:avLst/>
          </a:prstGeom>
        </p:spPr>
      </p:pic>
      <p:sp>
        <p:nvSpPr>
          <p:cNvPr id="20" name="Rounded Rectangle 19"/>
          <p:cNvSpPr/>
          <p:nvPr/>
        </p:nvSpPr>
        <p:spPr>
          <a:xfrm>
            <a:off x="5034260" y="1619250"/>
            <a:ext cx="762000" cy="762000"/>
          </a:xfrm>
          <a:prstGeom prst="roundRect">
            <a:avLst>
              <a:gd name="adj" fmla="val 50000"/>
            </a:avLst>
          </a:prstGeom>
          <a:solidFill>
            <a:srgbClr val="22C55E"/>
          </a:solidFill>
          <a:ln w="7620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43760" y="2524125"/>
            <a:ext cx="1143000" cy="400050"/>
          </a:xfrm>
          <a:prstGeom prst="rect">
            <a:avLst/>
          </a:prstGeom>
          <a:noFill/>
        </p:spPr>
        <p:txBody>
          <a:bodyPr wrap="square" lIns="0" tIns="0" rIns="0" bIns="0" anchor="t">
            <a:spAutoFit/>
          </a:bodyPr>
          <a:lstStyle/>
          <a:p>
            <a:pPr algn="ctr"/>
            <a:r>
              <a:rPr sz="1350" b="0" i="0" u="none">
                <a:solidFill>
                  <a:srgbClr val="1E293B"/>
                </a:solidFill>
                <a:latin typeface="Inter SemiBold"/>
              </a:rPr>
              <a:t>System Architecture</a:t>
            </a:r>
          </a:p>
        </p:txBody>
      </p:sp>
      <p:pic>
        <p:nvPicPr>
          <p:cNvPr id="22" name="Picture 21" descr="image.png"/>
          <p:cNvPicPr>
            <a:picLocks noChangeAspect="1"/>
          </p:cNvPicPr>
          <p:nvPr/>
        </p:nvPicPr>
        <p:blipFill>
          <a:blip r:embed="rId12"/>
          <a:stretch>
            <a:fillRect/>
          </a:stretch>
        </p:blipFill>
        <p:spPr>
          <a:xfrm>
            <a:off x="6580584" y="1047750"/>
            <a:ext cx="390525" cy="342900"/>
          </a:xfrm>
          <a:prstGeom prst="rect">
            <a:avLst/>
          </a:prstGeom>
        </p:spPr>
      </p:pic>
      <p:sp>
        <p:nvSpPr>
          <p:cNvPr id="23" name="Rounded Rectangle 22"/>
          <p:cNvSpPr/>
          <p:nvPr/>
        </p:nvSpPr>
        <p:spPr>
          <a:xfrm>
            <a:off x="6394846" y="1619250"/>
            <a:ext cx="762000" cy="762000"/>
          </a:xfrm>
          <a:prstGeom prst="roundRect">
            <a:avLst>
              <a:gd name="adj" fmla="val 50000"/>
            </a:avLst>
          </a:prstGeom>
          <a:solidFill>
            <a:srgbClr val="22C55E"/>
          </a:solidFill>
          <a:ln w="7620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04346" y="2524125"/>
            <a:ext cx="1143000" cy="400050"/>
          </a:xfrm>
          <a:prstGeom prst="rect">
            <a:avLst/>
          </a:prstGeom>
          <a:noFill/>
        </p:spPr>
        <p:txBody>
          <a:bodyPr wrap="square" lIns="0" tIns="0" rIns="0" bIns="0" anchor="t">
            <a:spAutoFit/>
          </a:bodyPr>
          <a:lstStyle/>
          <a:p>
            <a:pPr algn="ctr"/>
            <a:r>
              <a:rPr sz="1350" b="0" i="0" u="none">
                <a:solidFill>
                  <a:srgbClr val="1E293B"/>
                </a:solidFill>
                <a:latin typeface="Inter SemiBold"/>
              </a:rPr>
              <a:t>Proteus Simulation</a:t>
            </a:r>
          </a:p>
        </p:txBody>
      </p:sp>
      <p:pic>
        <p:nvPicPr>
          <p:cNvPr id="25" name="Picture 24" descr="image.png"/>
          <p:cNvPicPr>
            <a:picLocks noChangeAspect="1"/>
          </p:cNvPicPr>
          <p:nvPr/>
        </p:nvPicPr>
        <p:blipFill>
          <a:blip r:embed="rId13"/>
          <a:stretch>
            <a:fillRect/>
          </a:stretch>
        </p:blipFill>
        <p:spPr>
          <a:xfrm>
            <a:off x="7964983" y="1047750"/>
            <a:ext cx="342900" cy="342900"/>
          </a:xfrm>
          <a:prstGeom prst="rect">
            <a:avLst/>
          </a:prstGeom>
        </p:spPr>
      </p:pic>
      <p:sp>
        <p:nvSpPr>
          <p:cNvPr id="26" name="Rounded Rectangle 25"/>
          <p:cNvSpPr/>
          <p:nvPr/>
        </p:nvSpPr>
        <p:spPr>
          <a:xfrm>
            <a:off x="7755433" y="1619250"/>
            <a:ext cx="762000" cy="762000"/>
          </a:xfrm>
          <a:prstGeom prst="roundRect">
            <a:avLst>
              <a:gd name="adj" fmla="val 50000"/>
            </a:avLst>
          </a:prstGeom>
          <a:solidFill>
            <a:srgbClr val="22C55E"/>
          </a:solidFill>
          <a:ln w="7620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64933" y="2524125"/>
            <a:ext cx="1143000" cy="400050"/>
          </a:xfrm>
          <a:prstGeom prst="rect">
            <a:avLst/>
          </a:prstGeom>
          <a:noFill/>
        </p:spPr>
        <p:txBody>
          <a:bodyPr wrap="square" lIns="0" tIns="0" rIns="0" bIns="0" anchor="t">
            <a:spAutoFit/>
          </a:bodyPr>
          <a:lstStyle/>
          <a:p>
            <a:pPr algn="ctr"/>
            <a:r>
              <a:rPr sz="1350" b="0" i="0" u="none">
                <a:solidFill>
                  <a:srgbClr val="1E293B"/>
                </a:solidFill>
                <a:latin typeface="Inter SemiBold"/>
              </a:rPr>
              <a:t>Prototype Progress</a:t>
            </a:r>
          </a:p>
        </p:txBody>
      </p:sp>
      <p:pic>
        <p:nvPicPr>
          <p:cNvPr id="28" name="Picture 27" descr="image.png"/>
          <p:cNvPicPr>
            <a:picLocks noChangeAspect="1"/>
          </p:cNvPicPr>
          <p:nvPr/>
        </p:nvPicPr>
        <p:blipFill>
          <a:blip r:embed="rId14"/>
          <a:stretch>
            <a:fillRect/>
          </a:stretch>
        </p:blipFill>
        <p:spPr>
          <a:xfrm>
            <a:off x="9301757" y="1147762"/>
            <a:ext cx="390525" cy="342900"/>
          </a:xfrm>
          <a:prstGeom prst="rect">
            <a:avLst/>
          </a:prstGeom>
        </p:spPr>
      </p:pic>
      <p:sp>
        <p:nvSpPr>
          <p:cNvPr id="29" name="Rounded Rectangle 28"/>
          <p:cNvSpPr/>
          <p:nvPr/>
        </p:nvSpPr>
        <p:spPr>
          <a:xfrm>
            <a:off x="9116020" y="1719262"/>
            <a:ext cx="762000" cy="762000"/>
          </a:xfrm>
          <a:prstGeom prst="roundRect">
            <a:avLst>
              <a:gd name="adj" fmla="val 50000"/>
            </a:avLst>
          </a:prstGeom>
          <a:solidFill>
            <a:srgbClr val="1E293B"/>
          </a:solidFill>
          <a:ln w="762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01720" y="2624137"/>
            <a:ext cx="990600" cy="200025"/>
          </a:xfrm>
          <a:prstGeom prst="rect">
            <a:avLst/>
          </a:prstGeom>
          <a:noFill/>
        </p:spPr>
        <p:txBody>
          <a:bodyPr wrap="square" lIns="0" tIns="0" rIns="0" bIns="0" anchor="t">
            <a:spAutoFit/>
          </a:bodyPr>
          <a:lstStyle/>
          <a:p>
            <a:pPr algn="ctr"/>
            <a:r>
              <a:rPr sz="1350" b="0" i="0" u="none">
                <a:solidFill>
                  <a:srgbClr val="1E293B"/>
                </a:solidFill>
                <a:latin typeface="Inter SemiBold"/>
              </a:rPr>
              <a:t>Advantages</a:t>
            </a:r>
          </a:p>
        </p:txBody>
      </p:sp>
      <p:pic>
        <p:nvPicPr>
          <p:cNvPr id="31" name="Picture 30" descr="image.png"/>
          <p:cNvPicPr>
            <a:picLocks noChangeAspect="1"/>
          </p:cNvPicPr>
          <p:nvPr/>
        </p:nvPicPr>
        <p:blipFill>
          <a:blip r:embed="rId15"/>
          <a:stretch>
            <a:fillRect/>
          </a:stretch>
        </p:blipFill>
        <p:spPr>
          <a:xfrm>
            <a:off x="10705207" y="1147762"/>
            <a:ext cx="304800" cy="342900"/>
          </a:xfrm>
          <a:prstGeom prst="rect">
            <a:avLst/>
          </a:prstGeom>
        </p:spPr>
      </p:pic>
      <p:sp>
        <p:nvSpPr>
          <p:cNvPr id="32" name="Rounded Rectangle 31"/>
          <p:cNvSpPr/>
          <p:nvPr/>
        </p:nvSpPr>
        <p:spPr>
          <a:xfrm>
            <a:off x="10476607" y="1719262"/>
            <a:ext cx="762000" cy="762000"/>
          </a:xfrm>
          <a:prstGeom prst="roundRect">
            <a:avLst>
              <a:gd name="adj" fmla="val 50000"/>
            </a:avLst>
          </a:prstGeom>
          <a:solidFill>
            <a:srgbClr val="1E293B"/>
          </a:solidFill>
          <a:ln w="762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471844" y="2624137"/>
            <a:ext cx="771525" cy="200025"/>
          </a:xfrm>
          <a:prstGeom prst="rect">
            <a:avLst/>
          </a:prstGeom>
          <a:noFill/>
        </p:spPr>
        <p:txBody>
          <a:bodyPr wrap="square" lIns="0" tIns="0" rIns="0" bIns="0" anchor="t">
            <a:spAutoFit/>
          </a:bodyPr>
          <a:lstStyle/>
          <a:p>
            <a:pPr algn="ctr"/>
            <a:r>
              <a:rPr sz="1350" b="0" i="0" u="none">
                <a:solidFill>
                  <a:srgbClr val="1E293B"/>
                </a:solidFill>
                <a:latin typeface="Inter SemiBold"/>
              </a:rPr>
              <a:t>Roadmap</a:t>
            </a:r>
          </a:p>
        </p:txBody>
      </p:sp>
      <p:sp>
        <p:nvSpPr>
          <p:cNvPr id="34" name="Rectangle 33"/>
          <p:cNvSpPr/>
          <p:nvPr/>
        </p:nvSpPr>
        <p:spPr>
          <a:xfrm>
            <a:off x="952500" y="2000250"/>
            <a:ext cx="10287000" cy="7620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57250" y="4695825"/>
            <a:ext cx="1047750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a:extLst>
              <a:ext uri="{FF2B5EF4-FFF2-40B4-BE49-F238E27FC236}">
                <a16:creationId xmlns:a16="http://schemas.microsoft.com/office/drawing/2014/main" id="{745A55CA-BCCA-90C3-BC32-5A93E7EE865F}"/>
              </a:ext>
            </a:extLst>
          </p:cNvPr>
          <p:cNvPicPr>
            <a:picLocks noChangeAspect="1"/>
          </p:cNvPicPr>
          <p:nvPr/>
        </p:nvPicPr>
        <p:blipFill>
          <a:blip r:embed="rId16"/>
          <a:stretch>
            <a:fillRect/>
          </a:stretch>
        </p:blipFill>
        <p:spPr>
          <a:xfrm>
            <a:off x="9960864" y="4684"/>
            <a:ext cx="2231136" cy="5953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66750"/>
          </a:xfrm>
          <a:prstGeom prst="rect">
            <a:avLst/>
          </a:prstGeom>
        </p:spPr>
      </p:pic>
      <p:sp>
        <p:nvSpPr>
          <p:cNvPr id="3" name="TextBox 2"/>
          <p:cNvSpPr txBox="1"/>
          <p:nvPr/>
        </p:nvSpPr>
        <p:spPr>
          <a:xfrm>
            <a:off x="5354216" y="87153"/>
            <a:ext cx="3519487" cy="492443"/>
          </a:xfrm>
          <a:prstGeom prst="rect">
            <a:avLst/>
          </a:prstGeom>
          <a:noFill/>
        </p:spPr>
        <p:txBody>
          <a:bodyPr wrap="square" lIns="0" tIns="0" rIns="0" bIns="0" anchor="t">
            <a:spAutoFit/>
          </a:bodyPr>
          <a:lstStyle/>
          <a:p>
            <a:pPr algn="l"/>
            <a:r>
              <a:rPr lang="en-US" sz="3200" b="1" dirty="0">
                <a:solidFill>
                  <a:srgbClr val="F8FAFC"/>
                </a:solidFill>
                <a:latin typeface="Inter SemiBold"/>
              </a:rPr>
              <a:t>ABSTRUCT</a:t>
            </a:r>
            <a:endParaRPr sz="3200" b="1" i="0" u="none" dirty="0">
              <a:solidFill>
                <a:srgbClr val="F8FAFC"/>
              </a:solidFill>
              <a:latin typeface="Inter SemiBold"/>
            </a:endParaRPr>
          </a:p>
        </p:txBody>
      </p:sp>
      <p:pic>
        <p:nvPicPr>
          <p:cNvPr id="5" name="Picture 4" descr="image.png"/>
          <p:cNvPicPr>
            <a:picLocks noChangeAspect="1"/>
          </p:cNvPicPr>
          <p:nvPr/>
        </p:nvPicPr>
        <p:blipFill>
          <a:blip r:embed="rId3"/>
          <a:stretch>
            <a:fillRect/>
          </a:stretch>
        </p:blipFill>
        <p:spPr>
          <a:xfrm>
            <a:off x="381000" y="1428750"/>
            <a:ext cx="3429000" cy="762000"/>
          </a:xfrm>
          <a:prstGeom prst="rect">
            <a:avLst/>
          </a:prstGeom>
        </p:spPr>
      </p:pic>
      <p:sp>
        <p:nvSpPr>
          <p:cNvPr id="6" name="TextBox 5"/>
          <p:cNvSpPr txBox="1"/>
          <p:nvPr/>
        </p:nvSpPr>
        <p:spPr>
          <a:xfrm>
            <a:off x="381000" y="2476500"/>
            <a:ext cx="3600450" cy="323850"/>
          </a:xfrm>
          <a:prstGeom prst="rect">
            <a:avLst/>
          </a:prstGeom>
          <a:noFill/>
        </p:spPr>
        <p:txBody>
          <a:bodyPr wrap="square" lIns="0" tIns="0" rIns="0" bIns="0" anchor="t">
            <a:spAutoFit/>
          </a:bodyPr>
          <a:lstStyle/>
          <a:p>
            <a:pPr algn="l"/>
            <a:r>
              <a:rPr sz="2100" b="0" i="0" u="none">
                <a:solidFill>
                  <a:srgbClr val="FFFFFF"/>
                </a:solidFill>
                <a:latin typeface="Inter SemiBold"/>
              </a:rPr>
              <a:t>Urban Space Constraints</a:t>
            </a:r>
          </a:p>
        </p:txBody>
      </p:sp>
      <p:sp>
        <p:nvSpPr>
          <p:cNvPr id="7" name="TextBox 6"/>
          <p:cNvSpPr txBox="1"/>
          <p:nvPr/>
        </p:nvSpPr>
        <p:spPr>
          <a:xfrm>
            <a:off x="381000" y="2990850"/>
            <a:ext cx="3429000" cy="1828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Inter"/>
              </a:rPr>
              <a:t>Urban space constraints means to drive smoothly and city, loan knowing loenmen safety, implient industry, in sense of the constraintance costs and constands with long and in bane urban city places.</a:t>
            </a:r>
          </a:p>
        </p:txBody>
      </p:sp>
      <p:pic>
        <p:nvPicPr>
          <p:cNvPr id="8" name="Picture 7" descr="image.png"/>
          <p:cNvPicPr>
            <a:picLocks noChangeAspect="1"/>
          </p:cNvPicPr>
          <p:nvPr/>
        </p:nvPicPr>
        <p:blipFill>
          <a:blip r:embed="rId4"/>
          <a:stretch>
            <a:fillRect/>
          </a:stretch>
        </p:blipFill>
        <p:spPr>
          <a:xfrm>
            <a:off x="4381500" y="1428750"/>
            <a:ext cx="3429000" cy="762000"/>
          </a:xfrm>
          <a:prstGeom prst="rect">
            <a:avLst/>
          </a:prstGeom>
        </p:spPr>
      </p:pic>
      <p:sp>
        <p:nvSpPr>
          <p:cNvPr id="9" name="TextBox 8"/>
          <p:cNvSpPr txBox="1"/>
          <p:nvPr/>
        </p:nvSpPr>
        <p:spPr>
          <a:xfrm>
            <a:off x="4381500" y="2476500"/>
            <a:ext cx="3600450" cy="323850"/>
          </a:xfrm>
          <a:prstGeom prst="rect">
            <a:avLst/>
          </a:prstGeom>
          <a:noFill/>
        </p:spPr>
        <p:txBody>
          <a:bodyPr wrap="square" lIns="0" tIns="0" rIns="0" bIns="0" anchor="t">
            <a:spAutoFit/>
          </a:bodyPr>
          <a:lstStyle/>
          <a:p>
            <a:pPr algn="l"/>
            <a:r>
              <a:rPr sz="2100" b="0" i="0" u="none">
                <a:solidFill>
                  <a:srgbClr val="FFFFFF"/>
                </a:solidFill>
                <a:latin typeface="Inter SemiBold"/>
              </a:rPr>
              <a:t>Smart Infrastructure Shift</a:t>
            </a:r>
          </a:p>
        </p:txBody>
      </p:sp>
      <p:sp>
        <p:nvSpPr>
          <p:cNvPr id="10" name="TextBox 9"/>
          <p:cNvSpPr txBox="1"/>
          <p:nvPr/>
        </p:nvSpPr>
        <p:spPr>
          <a:xfrm>
            <a:off x="4381500" y="2990850"/>
            <a:ext cx="3429000" cy="1828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Inter"/>
              </a:rPr>
              <a:t>Smart infrastructure shift provides approved reet infrastructure model to develop and locally recomponents communication of using and economies acts to as blend and managements.</a:t>
            </a:r>
          </a:p>
        </p:txBody>
      </p:sp>
      <p:pic>
        <p:nvPicPr>
          <p:cNvPr id="11" name="Picture 10" descr="image.png"/>
          <p:cNvPicPr>
            <a:picLocks noChangeAspect="1"/>
          </p:cNvPicPr>
          <p:nvPr/>
        </p:nvPicPr>
        <p:blipFill>
          <a:blip r:embed="rId5"/>
          <a:stretch>
            <a:fillRect/>
          </a:stretch>
        </p:blipFill>
        <p:spPr>
          <a:xfrm>
            <a:off x="8382000" y="1428750"/>
            <a:ext cx="3429000" cy="762000"/>
          </a:xfrm>
          <a:prstGeom prst="rect">
            <a:avLst/>
          </a:prstGeom>
        </p:spPr>
      </p:pic>
      <p:sp>
        <p:nvSpPr>
          <p:cNvPr id="12" name="TextBox 11"/>
          <p:cNvSpPr txBox="1"/>
          <p:nvPr/>
        </p:nvSpPr>
        <p:spPr>
          <a:xfrm>
            <a:off x="8382000" y="2476500"/>
            <a:ext cx="3600450" cy="323850"/>
          </a:xfrm>
          <a:prstGeom prst="rect">
            <a:avLst/>
          </a:prstGeom>
          <a:noFill/>
        </p:spPr>
        <p:txBody>
          <a:bodyPr wrap="square" lIns="0" tIns="0" rIns="0" bIns="0" anchor="t">
            <a:spAutoFit/>
          </a:bodyPr>
          <a:lstStyle/>
          <a:p>
            <a:pPr algn="l"/>
            <a:r>
              <a:rPr sz="2100" b="0" i="0" u="none">
                <a:solidFill>
                  <a:srgbClr val="FFFFFF"/>
                </a:solidFill>
                <a:latin typeface="Inter SemiBold"/>
              </a:rPr>
              <a:t>Automated Management</a:t>
            </a:r>
          </a:p>
        </p:txBody>
      </p:sp>
      <p:sp>
        <p:nvSpPr>
          <p:cNvPr id="13" name="TextBox 12"/>
          <p:cNvSpPr txBox="1"/>
          <p:nvPr/>
        </p:nvSpPr>
        <p:spPr>
          <a:xfrm>
            <a:off x="8382000" y="2990850"/>
            <a:ext cx="3429000" cy="1828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Inter"/>
              </a:rPr>
              <a:t>Automated management technology cent systems, indling, baayreuxic components, and legsaraib, a high global stamaft entirnanement services, analytis, its manalenments and program or auomotity.</a:t>
            </a:r>
          </a:p>
        </p:txBody>
      </p:sp>
      <p:pic>
        <p:nvPicPr>
          <p:cNvPr id="15" name="Picture 14">
            <a:extLst>
              <a:ext uri="{FF2B5EF4-FFF2-40B4-BE49-F238E27FC236}">
                <a16:creationId xmlns:a16="http://schemas.microsoft.com/office/drawing/2014/main" id="{5E05BB18-D940-89AA-58AF-FBE111D51EBF}"/>
              </a:ext>
            </a:extLst>
          </p:cNvPr>
          <p:cNvPicPr>
            <a:picLocks noChangeAspect="1"/>
          </p:cNvPicPr>
          <p:nvPr/>
        </p:nvPicPr>
        <p:blipFill>
          <a:blip r:embed="rId6"/>
          <a:stretch>
            <a:fillRect/>
          </a:stretch>
        </p:blipFill>
        <p:spPr>
          <a:xfrm>
            <a:off x="0" y="13096"/>
            <a:ext cx="2870059" cy="6119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952500" y="2185094"/>
            <a:ext cx="10287000" cy="2278260"/>
          </a:xfrm>
          <a:prstGeom prst="rect">
            <a:avLst/>
          </a:prstGeom>
        </p:spPr>
      </p:pic>
      <p:pic>
        <p:nvPicPr>
          <p:cNvPr id="4" name="Picture 3" descr="image.png"/>
          <p:cNvPicPr>
            <a:picLocks noChangeAspect="1"/>
          </p:cNvPicPr>
          <p:nvPr/>
        </p:nvPicPr>
        <p:blipFill>
          <a:blip r:embed="rId4"/>
          <a:stretch>
            <a:fillRect/>
          </a:stretch>
        </p:blipFill>
        <p:spPr>
          <a:xfrm>
            <a:off x="0" y="0"/>
            <a:ext cx="12192000" cy="666750"/>
          </a:xfrm>
          <a:prstGeom prst="rect">
            <a:avLst/>
          </a:prstGeom>
        </p:spPr>
      </p:pic>
      <p:sp>
        <p:nvSpPr>
          <p:cNvPr id="5" name="TextBox 4"/>
          <p:cNvSpPr txBox="1"/>
          <p:nvPr/>
        </p:nvSpPr>
        <p:spPr>
          <a:xfrm>
            <a:off x="381000" y="180975"/>
            <a:ext cx="5672137" cy="276225"/>
          </a:xfrm>
          <a:prstGeom prst="rect">
            <a:avLst/>
          </a:prstGeom>
          <a:noFill/>
        </p:spPr>
        <p:txBody>
          <a:bodyPr wrap="square" lIns="0" tIns="0" rIns="0" bIns="0" anchor="t">
            <a:spAutoFit/>
          </a:bodyPr>
          <a:lstStyle/>
          <a:p>
            <a:pPr algn="l"/>
            <a:r>
              <a:rPr sz="1800" b="0" i="0" u="none">
                <a:solidFill>
                  <a:srgbClr val="1E293B"/>
                </a:solidFill>
                <a:latin typeface="Inter SemiBold"/>
              </a:rPr>
              <a:t>SYSTEM OVERVIEW &amp; THE CRITICAL LIMITATION</a:t>
            </a:r>
          </a:p>
        </p:txBody>
      </p:sp>
      <p:sp>
        <p:nvSpPr>
          <p:cNvPr id="7" name="TextBox 6"/>
          <p:cNvSpPr txBox="1"/>
          <p:nvPr/>
        </p:nvSpPr>
        <p:spPr>
          <a:xfrm>
            <a:off x="381000" y="1156394"/>
            <a:ext cx="11430000" cy="838200"/>
          </a:xfrm>
          <a:prstGeom prst="rect">
            <a:avLst/>
          </a:prstGeom>
          <a:noFill/>
        </p:spPr>
        <p:txBody>
          <a:bodyPr wrap="square" lIns="0" tIns="0" rIns="0" bIns="0" anchor="t">
            <a:spAutoFit/>
          </a:bodyPr>
          <a:lstStyle/>
          <a:p>
            <a:pPr algn="ctr"/>
            <a:r>
              <a:rPr sz="2700" b="0" i="0" u="none">
                <a:solidFill>
                  <a:srgbClr val="1E293B"/>
                </a:solidFill>
                <a:latin typeface="Inter"/>
              </a:rPr>
              <a:t>While standard automated parking utilizes IR and Ultrasonic sensors for occupancy detection...</a:t>
            </a:r>
          </a:p>
        </p:txBody>
      </p:sp>
      <p:pic>
        <p:nvPicPr>
          <p:cNvPr id="8" name="Picture 7" descr="image.png"/>
          <p:cNvPicPr>
            <a:picLocks noChangeAspect="1"/>
          </p:cNvPicPr>
          <p:nvPr/>
        </p:nvPicPr>
        <p:blipFill>
          <a:blip r:embed="rId5"/>
          <a:stretch>
            <a:fillRect/>
          </a:stretch>
        </p:blipFill>
        <p:spPr>
          <a:xfrm>
            <a:off x="1866900" y="5415855"/>
            <a:ext cx="1428750" cy="1143000"/>
          </a:xfrm>
          <a:prstGeom prst="rect">
            <a:avLst/>
          </a:prstGeom>
        </p:spPr>
      </p:pic>
      <p:pic>
        <p:nvPicPr>
          <p:cNvPr id="9" name="Picture 8" descr="image.png"/>
          <p:cNvPicPr>
            <a:picLocks noChangeAspect="1"/>
          </p:cNvPicPr>
          <p:nvPr/>
        </p:nvPicPr>
        <p:blipFill>
          <a:blip r:embed="rId6"/>
          <a:stretch>
            <a:fillRect/>
          </a:stretch>
        </p:blipFill>
        <p:spPr>
          <a:xfrm>
            <a:off x="4438650" y="5415855"/>
            <a:ext cx="1428750" cy="1143000"/>
          </a:xfrm>
          <a:prstGeom prst="rect">
            <a:avLst/>
          </a:prstGeom>
        </p:spPr>
      </p:pic>
      <p:pic>
        <p:nvPicPr>
          <p:cNvPr id="10" name="Picture 9" descr="image.png"/>
          <p:cNvPicPr>
            <a:picLocks noChangeAspect="1"/>
          </p:cNvPicPr>
          <p:nvPr/>
        </p:nvPicPr>
        <p:blipFill>
          <a:blip r:embed="rId7"/>
          <a:stretch>
            <a:fillRect/>
          </a:stretch>
        </p:blipFill>
        <p:spPr>
          <a:xfrm>
            <a:off x="7010400" y="5225355"/>
            <a:ext cx="1666875" cy="1333500"/>
          </a:xfrm>
          <a:prstGeom prst="rect">
            <a:avLst/>
          </a:prstGeom>
        </p:spPr>
      </p:pic>
      <p:pic>
        <p:nvPicPr>
          <p:cNvPr id="11" name="Picture 10" descr="image.png"/>
          <p:cNvPicPr>
            <a:picLocks noChangeAspect="1"/>
          </p:cNvPicPr>
          <p:nvPr/>
        </p:nvPicPr>
        <p:blipFill>
          <a:blip r:embed="rId8"/>
          <a:stretch>
            <a:fillRect/>
          </a:stretch>
        </p:blipFill>
        <p:spPr>
          <a:xfrm>
            <a:off x="9820275" y="5701605"/>
            <a:ext cx="504825" cy="571500"/>
          </a:xfrm>
          <a:prstGeom prst="rect">
            <a:avLst/>
          </a:prstGeom>
        </p:spPr>
      </p:pic>
      <p:sp>
        <p:nvSpPr>
          <p:cNvPr id="12" name="Rectangle 11"/>
          <p:cNvSpPr/>
          <p:nvPr/>
        </p:nvSpPr>
        <p:spPr>
          <a:xfrm>
            <a:off x="1333500" y="6044505"/>
            <a:ext cx="952500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a:extLst>
              <a:ext uri="{FF2B5EF4-FFF2-40B4-BE49-F238E27FC236}">
                <a16:creationId xmlns:a16="http://schemas.microsoft.com/office/drawing/2014/main" id="{80BD2ECA-6E89-DF65-9CC0-8E3D7879FB5D}"/>
              </a:ext>
            </a:extLst>
          </p:cNvPr>
          <p:cNvPicPr>
            <a:picLocks noChangeAspect="1"/>
          </p:cNvPicPr>
          <p:nvPr/>
        </p:nvPicPr>
        <p:blipFill>
          <a:blip r:embed="rId9"/>
          <a:stretch>
            <a:fillRect/>
          </a:stretch>
        </p:blipFill>
        <p:spPr>
          <a:xfrm>
            <a:off x="9321941" y="-34134"/>
            <a:ext cx="2870059" cy="6380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81000" y="1047750"/>
            <a:ext cx="5524500" cy="5429250"/>
          </a:xfrm>
          <a:prstGeom prst="rect">
            <a:avLst/>
          </a:prstGeom>
        </p:spPr>
      </p:pic>
      <p:pic>
        <p:nvPicPr>
          <p:cNvPr id="4" name="Picture 3" descr="image.png"/>
          <p:cNvPicPr>
            <a:picLocks noChangeAspect="1"/>
          </p:cNvPicPr>
          <p:nvPr/>
        </p:nvPicPr>
        <p:blipFill>
          <a:blip r:embed="rId4"/>
          <a:stretch>
            <a:fillRect/>
          </a:stretch>
        </p:blipFill>
        <p:spPr>
          <a:xfrm>
            <a:off x="6286500" y="1047750"/>
            <a:ext cx="5524500" cy="5429250"/>
          </a:xfrm>
          <a:prstGeom prst="rect">
            <a:avLst/>
          </a:prstGeom>
        </p:spPr>
      </p:pic>
      <p:pic>
        <p:nvPicPr>
          <p:cNvPr id="5" name="Picture 4" descr="image.png"/>
          <p:cNvPicPr>
            <a:picLocks noChangeAspect="1"/>
          </p:cNvPicPr>
          <p:nvPr/>
        </p:nvPicPr>
        <p:blipFill>
          <a:blip r:embed="rId5"/>
          <a:stretch>
            <a:fillRect/>
          </a:stretch>
        </p:blipFill>
        <p:spPr>
          <a:xfrm>
            <a:off x="0" y="0"/>
            <a:ext cx="12192000" cy="666750"/>
          </a:xfrm>
          <a:prstGeom prst="rect">
            <a:avLst/>
          </a:prstGeom>
        </p:spPr>
      </p:pic>
      <p:sp>
        <p:nvSpPr>
          <p:cNvPr id="6" name="TextBox 5"/>
          <p:cNvSpPr txBox="1"/>
          <p:nvPr/>
        </p:nvSpPr>
        <p:spPr>
          <a:xfrm>
            <a:off x="381000" y="180975"/>
            <a:ext cx="7839075" cy="276225"/>
          </a:xfrm>
          <a:prstGeom prst="rect">
            <a:avLst/>
          </a:prstGeom>
          <a:noFill/>
        </p:spPr>
        <p:txBody>
          <a:bodyPr wrap="square" lIns="0" tIns="0" rIns="0" bIns="0" anchor="t">
            <a:spAutoFit/>
          </a:bodyPr>
          <a:lstStyle/>
          <a:p>
            <a:pPr algn="l"/>
            <a:r>
              <a:rPr sz="1800" b="0" i="0" u="none">
                <a:solidFill>
                  <a:srgbClr val="1E293B"/>
                </a:solidFill>
                <a:latin typeface="Inter SemiBold"/>
              </a:rPr>
              <a:t>REDEFINING CLASSIFICATION: PROBLEM VS. PROPOSED SOLUTION</a:t>
            </a:r>
          </a:p>
        </p:txBody>
      </p:sp>
      <p:sp>
        <p:nvSpPr>
          <p:cNvPr id="8" name="TextBox 7"/>
          <p:cNvSpPr txBox="1"/>
          <p:nvPr/>
        </p:nvSpPr>
        <p:spPr>
          <a:xfrm>
            <a:off x="662939" y="1447800"/>
            <a:ext cx="4960620" cy="323850"/>
          </a:xfrm>
          <a:prstGeom prst="rect">
            <a:avLst/>
          </a:prstGeom>
          <a:noFill/>
        </p:spPr>
        <p:txBody>
          <a:bodyPr wrap="square" lIns="0" tIns="0" rIns="0" bIns="0" anchor="t">
            <a:spAutoFit/>
          </a:bodyPr>
          <a:lstStyle/>
          <a:p>
            <a:pPr algn="ctr"/>
            <a:r>
              <a:rPr sz="2100" b="1" i="0" u="none">
                <a:solidFill>
                  <a:srgbClr val="000000"/>
                </a:solidFill>
                <a:latin typeface="Inter"/>
              </a:rPr>
              <a:t>Standard Sensor Vulnerability</a:t>
            </a:r>
          </a:p>
        </p:txBody>
      </p:sp>
      <p:sp>
        <p:nvSpPr>
          <p:cNvPr id="9" name="TextBox 8"/>
          <p:cNvSpPr txBox="1"/>
          <p:nvPr/>
        </p:nvSpPr>
        <p:spPr>
          <a:xfrm>
            <a:off x="781050" y="1962150"/>
            <a:ext cx="4724400" cy="942975"/>
          </a:xfrm>
          <a:prstGeom prst="rect">
            <a:avLst/>
          </a:prstGeom>
          <a:noFill/>
        </p:spPr>
        <p:txBody>
          <a:bodyPr wrap="square" lIns="0" tIns="0" rIns="0" bIns="0" anchor="t">
            <a:spAutoFit/>
          </a:bodyPr>
          <a:lstStyle/>
          <a:p>
            <a:pPr algn="ctr">
              <a:lnSpc>
                <a:spcPts val="2475"/>
              </a:lnSpc>
            </a:pPr>
            <a:r>
              <a:rPr sz="1650" b="0" i="0" u="none">
                <a:solidFill>
                  <a:srgbClr val="334155"/>
                </a:solidFill>
                <a:latin typeface="Inter"/>
              </a:rPr>
              <a:t>Unauthorized non-car vehicles routinely occupy and block dedicated car bays because basic proximity sensors grant them access.</a:t>
            </a:r>
          </a:p>
        </p:txBody>
      </p:sp>
      <p:sp>
        <p:nvSpPr>
          <p:cNvPr id="10" name="TextBox 9"/>
          <p:cNvSpPr txBox="1"/>
          <p:nvPr/>
        </p:nvSpPr>
        <p:spPr>
          <a:xfrm>
            <a:off x="6568439" y="1447800"/>
            <a:ext cx="4960620" cy="323850"/>
          </a:xfrm>
          <a:prstGeom prst="rect">
            <a:avLst/>
          </a:prstGeom>
          <a:noFill/>
        </p:spPr>
        <p:txBody>
          <a:bodyPr wrap="square" lIns="0" tIns="0" rIns="0" bIns="0" anchor="t">
            <a:spAutoFit/>
          </a:bodyPr>
          <a:lstStyle/>
          <a:p>
            <a:pPr algn="ctr"/>
            <a:r>
              <a:rPr sz="2100" b="1" i="0" u="none">
                <a:solidFill>
                  <a:srgbClr val="000000"/>
                </a:solidFill>
                <a:latin typeface="Inter"/>
              </a:rPr>
              <a:t>Smart Weight-Based Classification</a:t>
            </a:r>
          </a:p>
        </p:txBody>
      </p:sp>
      <p:sp>
        <p:nvSpPr>
          <p:cNvPr id="11" name="TextBox 10"/>
          <p:cNvSpPr txBox="1"/>
          <p:nvPr/>
        </p:nvSpPr>
        <p:spPr>
          <a:xfrm>
            <a:off x="6686550" y="1962150"/>
            <a:ext cx="4724400" cy="942975"/>
          </a:xfrm>
          <a:prstGeom prst="rect">
            <a:avLst/>
          </a:prstGeom>
          <a:noFill/>
        </p:spPr>
        <p:txBody>
          <a:bodyPr wrap="square" lIns="0" tIns="0" rIns="0" bIns="0" anchor="t">
            <a:spAutoFit/>
          </a:bodyPr>
          <a:lstStyle/>
          <a:p>
            <a:pPr algn="ctr">
              <a:lnSpc>
                <a:spcPts val="2475"/>
              </a:lnSpc>
            </a:pPr>
            <a:r>
              <a:rPr sz="1650" b="0" i="0" u="none">
                <a:solidFill>
                  <a:srgbClr val="334155"/>
                </a:solidFill>
                <a:latin typeface="Inter"/>
              </a:rPr>
              <a:t>Integration of 4 weight sensors (load cells) beneath the parking bays to measure vehicle weight class.</a:t>
            </a:r>
          </a:p>
        </p:txBody>
      </p:sp>
      <p:sp>
        <p:nvSpPr>
          <p:cNvPr id="12" name="TextBox 11"/>
          <p:cNvSpPr txBox="1"/>
          <p:nvPr/>
        </p:nvSpPr>
        <p:spPr>
          <a:xfrm>
            <a:off x="6686550" y="5448300"/>
            <a:ext cx="4724400" cy="628650"/>
          </a:xfrm>
          <a:prstGeom prst="rect">
            <a:avLst/>
          </a:prstGeom>
          <a:noFill/>
        </p:spPr>
        <p:txBody>
          <a:bodyPr wrap="square" lIns="0" tIns="0" rIns="0" bIns="0" anchor="t">
            <a:spAutoFit/>
          </a:bodyPr>
          <a:lstStyle/>
          <a:p>
            <a:pPr algn="ctr">
              <a:lnSpc>
                <a:spcPts val="2475"/>
              </a:lnSpc>
            </a:pPr>
            <a:r>
              <a:rPr sz="1650" b="1" i="0" u="none">
                <a:solidFill>
                  <a:srgbClr val="166534"/>
                </a:solidFill>
                <a:latin typeface="Inter"/>
              </a:rPr>
              <a:t>If weight ≠ car threshold ➔ System Rejects Vehicle ➔ Gate Remains Closed</a:t>
            </a:r>
          </a:p>
        </p:txBody>
      </p:sp>
      <p:pic>
        <p:nvPicPr>
          <p:cNvPr id="13" name="Picture 12" descr="image.png"/>
          <p:cNvPicPr>
            <a:picLocks noChangeAspect="1"/>
          </p:cNvPicPr>
          <p:nvPr/>
        </p:nvPicPr>
        <p:blipFill>
          <a:blip r:embed="rId6"/>
          <a:stretch>
            <a:fillRect/>
          </a:stretch>
        </p:blipFill>
        <p:spPr>
          <a:xfrm>
            <a:off x="5929312" y="3571875"/>
            <a:ext cx="333375" cy="381000"/>
          </a:xfrm>
          <a:prstGeom prst="rect">
            <a:avLst/>
          </a:prstGeom>
        </p:spPr>
      </p:pic>
      <p:pic>
        <p:nvPicPr>
          <p:cNvPr id="15" name="Picture 14">
            <a:extLst>
              <a:ext uri="{FF2B5EF4-FFF2-40B4-BE49-F238E27FC236}">
                <a16:creationId xmlns:a16="http://schemas.microsoft.com/office/drawing/2014/main" id="{69688381-7F0B-235D-E44B-613C9967C3B1}"/>
              </a:ext>
            </a:extLst>
          </p:cNvPr>
          <p:cNvPicPr>
            <a:picLocks noChangeAspect="1"/>
          </p:cNvPicPr>
          <p:nvPr/>
        </p:nvPicPr>
        <p:blipFill>
          <a:blip r:embed="rId7"/>
          <a:stretch>
            <a:fillRect/>
          </a:stretch>
        </p:blipFill>
        <p:spPr>
          <a:xfrm>
            <a:off x="9321941" y="21432"/>
            <a:ext cx="2870059" cy="6262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305B2-80BF-2A05-1F14-5A76D188028B}"/>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F37967D6-AE4E-85F9-C11F-45F9B085E3A9}"/>
              </a:ext>
            </a:extLst>
          </p:cNvPr>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a:extLst>
              <a:ext uri="{FF2B5EF4-FFF2-40B4-BE49-F238E27FC236}">
                <a16:creationId xmlns:a16="http://schemas.microsoft.com/office/drawing/2014/main" id="{4524DA5B-17A1-72E1-79B2-BE9E585C1D20}"/>
              </a:ext>
            </a:extLst>
          </p:cNvPr>
          <p:cNvPicPr>
            <a:picLocks noChangeAspect="1"/>
          </p:cNvPicPr>
          <p:nvPr/>
        </p:nvPicPr>
        <p:blipFill>
          <a:blip r:embed="rId3"/>
          <a:stretch>
            <a:fillRect/>
          </a:stretch>
        </p:blipFill>
        <p:spPr>
          <a:xfrm>
            <a:off x="381000" y="1047750"/>
            <a:ext cx="3393281" cy="5429250"/>
          </a:xfrm>
          <a:prstGeom prst="rect">
            <a:avLst/>
          </a:prstGeom>
        </p:spPr>
      </p:pic>
      <p:pic>
        <p:nvPicPr>
          <p:cNvPr id="4" name="Picture 3" descr="image.png">
            <a:extLst>
              <a:ext uri="{FF2B5EF4-FFF2-40B4-BE49-F238E27FC236}">
                <a16:creationId xmlns:a16="http://schemas.microsoft.com/office/drawing/2014/main" id="{8958EA9F-D925-A31A-ED36-796E54A3754C}"/>
              </a:ext>
            </a:extLst>
          </p:cNvPr>
          <p:cNvPicPr>
            <a:picLocks noChangeAspect="1"/>
          </p:cNvPicPr>
          <p:nvPr/>
        </p:nvPicPr>
        <p:blipFill>
          <a:blip r:embed="rId4"/>
          <a:stretch>
            <a:fillRect/>
          </a:stretch>
        </p:blipFill>
        <p:spPr>
          <a:xfrm>
            <a:off x="4060031" y="1047750"/>
            <a:ext cx="4071937" cy="5429250"/>
          </a:xfrm>
          <a:prstGeom prst="rect">
            <a:avLst/>
          </a:prstGeom>
        </p:spPr>
      </p:pic>
      <p:pic>
        <p:nvPicPr>
          <p:cNvPr id="5" name="Picture 4" descr="image.png">
            <a:extLst>
              <a:ext uri="{FF2B5EF4-FFF2-40B4-BE49-F238E27FC236}">
                <a16:creationId xmlns:a16="http://schemas.microsoft.com/office/drawing/2014/main" id="{261C953B-1DE8-621B-E3CD-03F7C8AE1AE8}"/>
              </a:ext>
            </a:extLst>
          </p:cNvPr>
          <p:cNvPicPr>
            <a:picLocks noChangeAspect="1"/>
          </p:cNvPicPr>
          <p:nvPr/>
        </p:nvPicPr>
        <p:blipFill>
          <a:blip r:embed="rId5"/>
          <a:stretch>
            <a:fillRect/>
          </a:stretch>
        </p:blipFill>
        <p:spPr>
          <a:xfrm>
            <a:off x="8417718" y="1047750"/>
            <a:ext cx="3393281" cy="5429250"/>
          </a:xfrm>
          <a:prstGeom prst="rect">
            <a:avLst/>
          </a:prstGeom>
        </p:spPr>
      </p:pic>
      <p:pic>
        <p:nvPicPr>
          <p:cNvPr id="6" name="Picture 5" descr="image.png">
            <a:extLst>
              <a:ext uri="{FF2B5EF4-FFF2-40B4-BE49-F238E27FC236}">
                <a16:creationId xmlns:a16="http://schemas.microsoft.com/office/drawing/2014/main" id="{9F15CFB6-1E1B-69BE-F38F-1C166A5EB2BA}"/>
              </a:ext>
            </a:extLst>
          </p:cNvPr>
          <p:cNvPicPr>
            <a:picLocks noChangeAspect="1"/>
          </p:cNvPicPr>
          <p:nvPr/>
        </p:nvPicPr>
        <p:blipFill>
          <a:blip r:embed="rId6"/>
          <a:stretch>
            <a:fillRect/>
          </a:stretch>
        </p:blipFill>
        <p:spPr>
          <a:xfrm>
            <a:off x="590550" y="1743075"/>
            <a:ext cx="2974181" cy="1412825"/>
          </a:xfrm>
          <a:prstGeom prst="rect">
            <a:avLst/>
          </a:prstGeom>
        </p:spPr>
      </p:pic>
      <p:pic>
        <p:nvPicPr>
          <p:cNvPr id="7" name="Picture 6" descr="image.png">
            <a:extLst>
              <a:ext uri="{FF2B5EF4-FFF2-40B4-BE49-F238E27FC236}">
                <a16:creationId xmlns:a16="http://schemas.microsoft.com/office/drawing/2014/main" id="{050B6177-A1C6-F24F-FA7B-221DD8167369}"/>
              </a:ext>
            </a:extLst>
          </p:cNvPr>
          <p:cNvPicPr>
            <a:picLocks noChangeAspect="1"/>
          </p:cNvPicPr>
          <p:nvPr/>
        </p:nvPicPr>
        <p:blipFill>
          <a:blip r:embed="rId7"/>
          <a:stretch>
            <a:fillRect/>
          </a:stretch>
        </p:blipFill>
        <p:spPr>
          <a:xfrm>
            <a:off x="590550" y="3298775"/>
            <a:ext cx="2974181" cy="1412825"/>
          </a:xfrm>
          <a:prstGeom prst="rect">
            <a:avLst/>
          </a:prstGeom>
        </p:spPr>
      </p:pic>
      <p:pic>
        <p:nvPicPr>
          <p:cNvPr id="8" name="Picture 7" descr="image.png">
            <a:extLst>
              <a:ext uri="{FF2B5EF4-FFF2-40B4-BE49-F238E27FC236}">
                <a16:creationId xmlns:a16="http://schemas.microsoft.com/office/drawing/2014/main" id="{CC5F09BC-6062-A8FE-211D-488BA208DB27}"/>
              </a:ext>
            </a:extLst>
          </p:cNvPr>
          <p:cNvPicPr>
            <a:picLocks noChangeAspect="1"/>
          </p:cNvPicPr>
          <p:nvPr/>
        </p:nvPicPr>
        <p:blipFill>
          <a:blip r:embed="rId8"/>
          <a:stretch>
            <a:fillRect/>
          </a:stretch>
        </p:blipFill>
        <p:spPr>
          <a:xfrm>
            <a:off x="590550" y="4854475"/>
            <a:ext cx="2974181" cy="1412825"/>
          </a:xfrm>
          <a:prstGeom prst="rect">
            <a:avLst/>
          </a:prstGeom>
        </p:spPr>
      </p:pic>
      <p:pic>
        <p:nvPicPr>
          <p:cNvPr id="9" name="Picture 8" descr="image.png">
            <a:extLst>
              <a:ext uri="{FF2B5EF4-FFF2-40B4-BE49-F238E27FC236}">
                <a16:creationId xmlns:a16="http://schemas.microsoft.com/office/drawing/2014/main" id="{C3A65135-1CA7-B2FD-DC2D-3278F9025FA2}"/>
              </a:ext>
            </a:extLst>
          </p:cNvPr>
          <p:cNvPicPr>
            <a:picLocks noChangeAspect="1"/>
          </p:cNvPicPr>
          <p:nvPr/>
        </p:nvPicPr>
        <p:blipFill>
          <a:blip r:embed="rId9"/>
          <a:stretch>
            <a:fillRect/>
          </a:stretch>
        </p:blipFill>
        <p:spPr>
          <a:xfrm>
            <a:off x="4269581" y="1743075"/>
            <a:ext cx="3652837" cy="4524375"/>
          </a:xfrm>
          <a:prstGeom prst="rect">
            <a:avLst/>
          </a:prstGeom>
        </p:spPr>
      </p:pic>
      <p:pic>
        <p:nvPicPr>
          <p:cNvPr id="10" name="Picture 9" descr="image.png">
            <a:extLst>
              <a:ext uri="{FF2B5EF4-FFF2-40B4-BE49-F238E27FC236}">
                <a16:creationId xmlns:a16="http://schemas.microsoft.com/office/drawing/2014/main" id="{38E86D0E-91A6-6DB0-5EE0-DA45648C76F5}"/>
              </a:ext>
            </a:extLst>
          </p:cNvPr>
          <p:cNvPicPr>
            <a:picLocks noChangeAspect="1"/>
          </p:cNvPicPr>
          <p:nvPr/>
        </p:nvPicPr>
        <p:blipFill>
          <a:blip r:embed="rId10"/>
          <a:stretch>
            <a:fillRect/>
          </a:stretch>
        </p:blipFill>
        <p:spPr>
          <a:xfrm>
            <a:off x="8627268" y="1990725"/>
            <a:ext cx="2974181" cy="1330374"/>
          </a:xfrm>
          <a:prstGeom prst="rect">
            <a:avLst/>
          </a:prstGeom>
        </p:spPr>
      </p:pic>
      <p:pic>
        <p:nvPicPr>
          <p:cNvPr id="11" name="Picture 10" descr="image.png">
            <a:extLst>
              <a:ext uri="{FF2B5EF4-FFF2-40B4-BE49-F238E27FC236}">
                <a16:creationId xmlns:a16="http://schemas.microsoft.com/office/drawing/2014/main" id="{509D494F-F2C4-466A-BBEB-8AF131E4DCC4}"/>
              </a:ext>
            </a:extLst>
          </p:cNvPr>
          <p:cNvPicPr>
            <a:picLocks noChangeAspect="1"/>
          </p:cNvPicPr>
          <p:nvPr/>
        </p:nvPicPr>
        <p:blipFill>
          <a:blip r:embed="rId10"/>
          <a:stretch>
            <a:fillRect/>
          </a:stretch>
        </p:blipFill>
        <p:spPr>
          <a:xfrm>
            <a:off x="8627268" y="3463974"/>
            <a:ext cx="2974181" cy="1330374"/>
          </a:xfrm>
          <a:prstGeom prst="rect">
            <a:avLst/>
          </a:prstGeom>
        </p:spPr>
      </p:pic>
      <p:pic>
        <p:nvPicPr>
          <p:cNvPr id="12" name="Picture 11" descr="image.png">
            <a:extLst>
              <a:ext uri="{FF2B5EF4-FFF2-40B4-BE49-F238E27FC236}">
                <a16:creationId xmlns:a16="http://schemas.microsoft.com/office/drawing/2014/main" id="{42580671-33FA-1EC7-B5C6-4986ABCD678B}"/>
              </a:ext>
            </a:extLst>
          </p:cNvPr>
          <p:cNvPicPr>
            <a:picLocks noChangeAspect="1"/>
          </p:cNvPicPr>
          <p:nvPr/>
        </p:nvPicPr>
        <p:blipFill>
          <a:blip r:embed="rId10"/>
          <a:stretch>
            <a:fillRect/>
          </a:stretch>
        </p:blipFill>
        <p:spPr>
          <a:xfrm>
            <a:off x="8627268" y="4937224"/>
            <a:ext cx="2974181" cy="1330374"/>
          </a:xfrm>
          <a:prstGeom prst="rect">
            <a:avLst/>
          </a:prstGeom>
        </p:spPr>
      </p:pic>
      <p:pic>
        <p:nvPicPr>
          <p:cNvPr id="13" name="Picture 12" descr="image.png">
            <a:extLst>
              <a:ext uri="{FF2B5EF4-FFF2-40B4-BE49-F238E27FC236}">
                <a16:creationId xmlns:a16="http://schemas.microsoft.com/office/drawing/2014/main" id="{995B1412-748B-A069-4603-E29ADCDDEB25}"/>
              </a:ext>
            </a:extLst>
          </p:cNvPr>
          <p:cNvPicPr>
            <a:picLocks noChangeAspect="1"/>
          </p:cNvPicPr>
          <p:nvPr/>
        </p:nvPicPr>
        <p:blipFill>
          <a:blip r:embed="rId11"/>
          <a:stretch>
            <a:fillRect/>
          </a:stretch>
        </p:blipFill>
        <p:spPr>
          <a:xfrm>
            <a:off x="0" y="0"/>
            <a:ext cx="12192000" cy="666750"/>
          </a:xfrm>
          <a:prstGeom prst="rect">
            <a:avLst/>
          </a:prstGeom>
        </p:spPr>
      </p:pic>
      <p:sp>
        <p:nvSpPr>
          <p:cNvPr id="14" name="TextBox 13">
            <a:extLst>
              <a:ext uri="{FF2B5EF4-FFF2-40B4-BE49-F238E27FC236}">
                <a16:creationId xmlns:a16="http://schemas.microsoft.com/office/drawing/2014/main" id="{428AE636-6575-71FE-A583-DEA2D3CD0646}"/>
              </a:ext>
            </a:extLst>
          </p:cNvPr>
          <p:cNvSpPr txBox="1"/>
          <p:nvPr/>
        </p:nvSpPr>
        <p:spPr>
          <a:xfrm>
            <a:off x="381000" y="180975"/>
            <a:ext cx="4557712" cy="276225"/>
          </a:xfrm>
          <a:prstGeom prst="rect">
            <a:avLst/>
          </a:prstGeom>
          <a:noFill/>
        </p:spPr>
        <p:txBody>
          <a:bodyPr wrap="square" lIns="0" tIns="0" rIns="0" bIns="0" anchor="t">
            <a:spAutoFit/>
          </a:bodyPr>
          <a:lstStyle/>
          <a:p>
            <a:pPr algn="l"/>
            <a:r>
              <a:rPr sz="1800" b="0" i="0" u="none">
                <a:solidFill>
                  <a:srgbClr val="1E293B"/>
                </a:solidFill>
                <a:latin typeface="Inter SemiBold"/>
              </a:rPr>
              <a:t>SYSTEM ARCHITECTURE &amp; DATA FLOW</a:t>
            </a:r>
          </a:p>
        </p:txBody>
      </p:sp>
      <p:sp>
        <p:nvSpPr>
          <p:cNvPr id="16" name="Rounded Rectangle 15">
            <a:extLst>
              <a:ext uri="{FF2B5EF4-FFF2-40B4-BE49-F238E27FC236}">
                <a16:creationId xmlns:a16="http://schemas.microsoft.com/office/drawing/2014/main" id="{250BD4C2-2A08-73A3-44B7-593530362A27}"/>
              </a:ext>
            </a:extLst>
          </p:cNvPr>
          <p:cNvSpPr/>
          <p:nvPr/>
        </p:nvSpPr>
        <p:spPr>
          <a:xfrm>
            <a:off x="2001440" y="3686175"/>
            <a:ext cx="152400" cy="152400"/>
          </a:xfrm>
          <a:prstGeom prst="roundRect">
            <a:avLst>
              <a:gd name="adj" fmla="val 50000"/>
            </a:avLst>
          </a:prstGeom>
          <a:no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FF2B5EF4-FFF2-40B4-BE49-F238E27FC236}">
                <a16:creationId xmlns:a16="http://schemas.microsoft.com/office/drawing/2014/main" id="{7F1B146D-901F-3788-55B9-37F411A62BF0}"/>
              </a:ext>
            </a:extLst>
          </p:cNvPr>
          <p:cNvSpPr/>
          <p:nvPr/>
        </p:nvSpPr>
        <p:spPr>
          <a:xfrm>
            <a:off x="2001440" y="3686175"/>
            <a:ext cx="152400" cy="152400"/>
          </a:xfrm>
          <a:prstGeom prst="roundRect">
            <a:avLst>
              <a:gd name="adj" fmla="val 50000"/>
            </a:avLst>
          </a:prstGeom>
          <a:no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4B586FEC-1B0F-9524-D00B-EEF2A1BB71B5}"/>
              </a:ext>
            </a:extLst>
          </p:cNvPr>
          <p:cNvSpPr txBox="1"/>
          <p:nvPr/>
        </p:nvSpPr>
        <p:spPr>
          <a:xfrm>
            <a:off x="590550" y="1257300"/>
            <a:ext cx="2974181" cy="247650"/>
          </a:xfrm>
          <a:prstGeom prst="rect">
            <a:avLst/>
          </a:prstGeom>
          <a:noFill/>
        </p:spPr>
        <p:txBody>
          <a:bodyPr wrap="square" lIns="0" tIns="0" rIns="0" bIns="0" anchor="t">
            <a:spAutoFit/>
          </a:bodyPr>
          <a:lstStyle/>
          <a:p>
            <a:pPr algn="ctr"/>
            <a:r>
              <a:rPr sz="1650" b="1" i="0" u="none">
                <a:solidFill>
                  <a:srgbClr val="1E293B"/>
                </a:solidFill>
                <a:latin typeface="Inter"/>
              </a:rPr>
              <a:t>Zone 1: Sensing (Input)</a:t>
            </a:r>
          </a:p>
        </p:txBody>
      </p:sp>
      <p:sp>
        <p:nvSpPr>
          <p:cNvPr id="19" name="Rounded Rectangle 18">
            <a:extLst>
              <a:ext uri="{FF2B5EF4-FFF2-40B4-BE49-F238E27FC236}">
                <a16:creationId xmlns:a16="http://schemas.microsoft.com/office/drawing/2014/main" id="{4B69FFAA-4AAC-33E3-6D39-8821B4705FDE}"/>
              </a:ext>
            </a:extLst>
          </p:cNvPr>
          <p:cNvSpPr/>
          <p:nvPr/>
        </p:nvSpPr>
        <p:spPr>
          <a:xfrm>
            <a:off x="6019800" y="3686175"/>
            <a:ext cx="152400" cy="152400"/>
          </a:xfrm>
          <a:prstGeom prst="roundRect">
            <a:avLst>
              <a:gd name="adj" fmla="val 50000"/>
            </a:avLst>
          </a:prstGeom>
          <a:no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a:extLst>
              <a:ext uri="{FF2B5EF4-FFF2-40B4-BE49-F238E27FC236}">
                <a16:creationId xmlns:a16="http://schemas.microsoft.com/office/drawing/2014/main" id="{9B7F05FA-AE32-E66C-3942-126BC553FD19}"/>
              </a:ext>
            </a:extLst>
          </p:cNvPr>
          <p:cNvSpPr/>
          <p:nvPr/>
        </p:nvSpPr>
        <p:spPr>
          <a:xfrm>
            <a:off x="6019800" y="3686175"/>
            <a:ext cx="152400" cy="152400"/>
          </a:xfrm>
          <a:prstGeom prst="roundRect">
            <a:avLst>
              <a:gd name="adj" fmla="val 50000"/>
            </a:avLst>
          </a:prstGeom>
          <a:no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DA6E035A-C14C-7F1C-5ADF-72748B15151C}"/>
              </a:ext>
            </a:extLst>
          </p:cNvPr>
          <p:cNvSpPr txBox="1"/>
          <p:nvPr/>
        </p:nvSpPr>
        <p:spPr>
          <a:xfrm>
            <a:off x="4269581" y="1257300"/>
            <a:ext cx="3652837" cy="247650"/>
          </a:xfrm>
          <a:prstGeom prst="rect">
            <a:avLst/>
          </a:prstGeom>
          <a:noFill/>
        </p:spPr>
        <p:txBody>
          <a:bodyPr wrap="square" lIns="0" tIns="0" rIns="0" bIns="0" anchor="t">
            <a:spAutoFit/>
          </a:bodyPr>
          <a:lstStyle/>
          <a:p>
            <a:pPr algn="ctr"/>
            <a:r>
              <a:rPr sz="1650" b="1" i="0" u="none">
                <a:solidFill>
                  <a:srgbClr val="1E293B"/>
                </a:solidFill>
                <a:latin typeface="Inter"/>
              </a:rPr>
              <a:t>Zone 2: Processing (The Brain)</a:t>
            </a:r>
          </a:p>
        </p:txBody>
      </p:sp>
      <p:sp>
        <p:nvSpPr>
          <p:cNvPr id="22" name="Rounded Rectangle 21">
            <a:extLst>
              <a:ext uri="{FF2B5EF4-FFF2-40B4-BE49-F238E27FC236}">
                <a16:creationId xmlns:a16="http://schemas.microsoft.com/office/drawing/2014/main" id="{E39C9058-8E78-4198-3744-DF57A8FE23F8}"/>
              </a:ext>
            </a:extLst>
          </p:cNvPr>
          <p:cNvSpPr/>
          <p:nvPr/>
        </p:nvSpPr>
        <p:spPr>
          <a:xfrm>
            <a:off x="10038159" y="3686175"/>
            <a:ext cx="152400" cy="152400"/>
          </a:xfrm>
          <a:prstGeom prst="roundRect">
            <a:avLst>
              <a:gd name="adj" fmla="val 50000"/>
            </a:avLst>
          </a:prstGeom>
          <a:no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a:extLst>
              <a:ext uri="{FF2B5EF4-FFF2-40B4-BE49-F238E27FC236}">
                <a16:creationId xmlns:a16="http://schemas.microsoft.com/office/drawing/2014/main" id="{8CAB0D69-F3F0-4EC0-31F5-76E55E780ADF}"/>
              </a:ext>
            </a:extLst>
          </p:cNvPr>
          <p:cNvSpPr/>
          <p:nvPr/>
        </p:nvSpPr>
        <p:spPr>
          <a:xfrm>
            <a:off x="10038159" y="3686175"/>
            <a:ext cx="152400" cy="152400"/>
          </a:xfrm>
          <a:prstGeom prst="roundRect">
            <a:avLst>
              <a:gd name="adj" fmla="val 50000"/>
            </a:avLst>
          </a:prstGeom>
          <a:no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ACBEA28F-302D-3F46-BF4F-8AE77C530E51}"/>
              </a:ext>
            </a:extLst>
          </p:cNvPr>
          <p:cNvSpPr txBox="1"/>
          <p:nvPr/>
        </p:nvSpPr>
        <p:spPr>
          <a:xfrm>
            <a:off x="8627268" y="1257300"/>
            <a:ext cx="2974181" cy="495300"/>
          </a:xfrm>
          <a:prstGeom prst="rect">
            <a:avLst/>
          </a:prstGeom>
          <a:noFill/>
        </p:spPr>
        <p:txBody>
          <a:bodyPr wrap="square" lIns="0" tIns="0" rIns="0" bIns="0" anchor="t">
            <a:spAutoFit/>
          </a:bodyPr>
          <a:lstStyle/>
          <a:p>
            <a:pPr algn="ctr"/>
            <a:r>
              <a:rPr sz="1650" b="1" i="0" u="none">
                <a:solidFill>
                  <a:srgbClr val="1E293B"/>
                </a:solidFill>
                <a:latin typeface="Inter"/>
              </a:rPr>
              <a:t>Zone 3: Actuation &amp; UI (Output)</a:t>
            </a:r>
          </a:p>
        </p:txBody>
      </p:sp>
      <p:sp>
        <p:nvSpPr>
          <p:cNvPr id="25" name="TextBox 24">
            <a:extLst>
              <a:ext uri="{FF2B5EF4-FFF2-40B4-BE49-F238E27FC236}">
                <a16:creationId xmlns:a16="http://schemas.microsoft.com/office/drawing/2014/main" id="{55AB03C4-AAE9-1771-C066-9D017C5B1CA7}"/>
              </a:ext>
            </a:extLst>
          </p:cNvPr>
          <p:cNvSpPr txBox="1"/>
          <p:nvPr/>
        </p:nvSpPr>
        <p:spPr>
          <a:xfrm>
            <a:off x="1297543" y="2111275"/>
            <a:ext cx="1560195" cy="200025"/>
          </a:xfrm>
          <a:prstGeom prst="rect">
            <a:avLst/>
          </a:prstGeom>
          <a:noFill/>
        </p:spPr>
        <p:txBody>
          <a:bodyPr wrap="square" lIns="0" tIns="0" rIns="0" bIns="0" anchor="t">
            <a:spAutoFit/>
          </a:bodyPr>
          <a:lstStyle/>
          <a:p>
            <a:pPr algn="ctr"/>
            <a:r>
              <a:rPr sz="1350" b="1" i="0" u="none">
                <a:solidFill>
                  <a:srgbClr val="334155"/>
                </a:solidFill>
                <a:latin typeface="Inter"/>
              </a:rPr>
              <a:t>Ultrasonic Sensor</a:t>
            </a:r>
          </a:p>
        </p:txBody>
      </p:sp>
      <p:pic>
        <p:nvPicPr>
          <p:cNvPr id="26" name="Picture 25" descr="image.png">
            <a:extLst>
              <a:ext uri="{FF2B5EF4-FFF2-40B4-BE49-F238E27FC236}">
                <a16:creationId xmlns:a16="http://schemas.microsoft.com/office/drawing/2014/main" id="{7E9691F0-8BCF-6F1E-AE82-209EF03437A6}"/>
              </a:ext>
            </a:extLst>
          </p:cNvPr>
          <p:cNvPicPr>
            <a:picLocks noChangeAspect="1"/>
          </p:cNvPicPr>
          <p:nvPr/>
        </p:nvPicPr>
        <p:blipFill>
          <a:blip r:embed="rId12"/>
          <a:stretch>
            <a:fillRect/>
          </a:stretch>
        </p:blipFill>
        <p:spPr>
          <a:xfrm>
            <a:off x="1887140" y="2406550"/>
            <a:ext cx="381000" cy="381000"/>
          </a:xfrm>
          <a:prstGeom prst="rect">
            <a:avLst/>
          </a:prstGeom>
        </p:spPr>
      </p:pic>
      <p:sp>
        <p:nvSpPr>
          <p:cNvPr id="27" name="TextBox 26">
            <a:extLst>
              <a:ext uri="{FF2B5EF4-FFF2-40B4-BE49-F238E27FC236}">
                <a16:creationId xmlns:a16="http://schemas.microsoft.com/office/drawing/2014/main" id="{D47B6A95-0244-2A0B-22FF-400B50AEA618}"/>
              </a:ext>
            </a:extLst>
          </p:cNvPr>
          <p:cNvSpPr txBox="1"/>
          <p:nvPr/>
        </p:nvSpPr>
        <p:spPr>
          <a:xfrm>
            <a:off x="1482566" y="3666976"/>
            <a:ext cx="1190148" cy="200025"/>
          </a:xfrm>
          <a:prstGeom prst="rect">
            <a:avLst/>
          </a:prstGeom>
          <a:noFill/>
        </p:spPr>
        <p:txBody>
          <a:bodyPr wrap="square" lIns="0" tIns="0" rIns="0" bIns="0" anchor="t">
            <a:spAutoFit/>
          </a:bodyPr>
          <a:lstStyle/>
          <a:p>
            <a:pPr algn="ctr"/>
            <a:r>
              <a:rPr sz="1350" b="1" i="0" u="none">
                <a:solidFill>
                  <a:srgbClr val="334155"/>
                </a:solidFill>
                <a:latin typeface="Inter"/>
              </a:rPr>
              <a:t>4x IR Sensors</a:t>
            </a:r>
          </a:p>
        </p:txBody>
      </p:sp>
      <p:pic>
        <p:nvPicPr>
          <p:cNvPr id="28" name="Picture 27" descr="image.png">
            <a:extLst>
              <a:ext uri="{FF2B5EF4-FFF2-40B4-BE49-F238E27FC236}">
                <a16:creationId xmlns:a16="http://schemas.microsoft.com/office/drawing/2014/main" id="{5E3C27BA-9615-3FE3-E444-2D17D31A41E8}"/>
              </a:ext>
            </a:extLst>
          </p:cNvPr>
          <p:cNvPicPr>
            <a:picLocks noChangeAspect="1"/>
          </p:cNvPicPr>
          <p:nvPr/>
        </p:nvPicPr>
        <p:blipFill>
          <a:blip r:embed="rId13"/>
          <a:stretch>
            <a:fillRect/>
          </a:stretch>
        </p:blipFill>
        <p:spPr>
          <a:xfrm>
            <a:off x="1863328" y="3962251"/>
            <a:ext cx="428625" cy="381000"/>
          </a:xfrm>
          <a:prstGeom prst="rect">
            <a:avLst/>
          </a:prstGeom>
        </p:spPr>
      </p:pic>
      <p:sp>
        <p:nvSpPr>
          <p:cNvPr id="29" name="TextBox 28">
            <a:extLst>
              <a:ext uri="{FF2B5EF4-FFF2-40B4-BE49-F238E27FC236}">
                <a16:creationId xmlns:a16="http://schemas.microsoft.com/office/drawing/2014/main" id="{054C9788-7E5F-AA7A-6422-205193953BDA}"/>
              </a:ext>
            </a:extLst>
          </p:cNvPr>
          <p:cNvSpPr txBox="1"/>
          <p:nvPr/>
        </p:nvSpPr>
        <p:spPr>
          <a:xfrm>
            <a:off x="727471" y="5222676"/>
            <a:ext cx="2700337" cy="200025"/>
          </a:xfrm>
          <a:prstGeom prst="rect">
            <a:avLst/>
          </a:prstGeom>
          <a:noFill/>
        </p:spPr>
        <p:txBody>
          <a:bodyPr wrap="square" lIns="0" tIns="0" rIns="0" bIns="0" anchor="t">
            <a:spAutoFit/>
          </a:bodyPr>
          <a:lstStyle/>
          <a:p>
            <a:pPr algn="ctr"/>
            <a:r>
              <a:rPr sz="1350" b="1" i="0" u="none">
                <a:solidFill>
                  <a:srgbClr val="334155"/>
                </a:solidFill>
                <a:latin typeface="Inter"/>
              </a:rPr>
              <a:t>4x Weight Sensors / Load Cells</a:t>
            </a:r>
          </a:p>
        </p:txBody>
      </p:sp>
      <p:pic>
        <p:nvPicPr>
          <p:cNvPr id="30" name="Picture 29" descr="image.png">
            <a:extLst>
              <a:ext uri="{FF2B5EF4-FFF2-40B4-BE49-F238E27FC236}">
                <a16:creationId xmlns:a16="http://schemas.microsoft.com/office/drawing/2014/main" id="{084B61DA-17E1-6A03-A5AC-857D05834E8A}"/>
              </a:ext>
            </a:extLst>
          </p:cNvPr>
          <p:cNvPicPr>
            <a:picLocks noChangeAspect="1"/>
          </p:cNvPicPr>
          <p:nvPr/>
        </p:nvPicPr>
        <p:blipFill>
          <a:blip r:embed="rId14"/>
          <a:stretch>
            <a:fillRect/>
          </a:stretch>
        </p:blipFill>
        <p:spPr>
          <a:xfrm>
            <a:off x="1839515" y="5517951"/>
            <a:ext cx="476250" cy="381000"/>
          </a:xfrm>
          <a:prstGeom prst="rect">
            <a:avLst/>
          </a:prstGeom>
        </p:spPr>
      </p:pic>
      <p:sp>
        <p:nvSpPr>
          <p:cNvPr id="31" name="TextBox 30">
            <a:extLst>
              <a:ext uri="{FF2B5EF4-FFF2-40B4-BE49-F238E27FC236}">
                <a16:creationId xmlns:a16="http://schemas.microsoft.com/office/drawing/2014/main" id="{77D7B80D-4E95-4857-50D2-848CCAF90B2A}"/>
              </a:ext>
            </a:extLst>
          </p:cNvPr>
          <p:cNvSpPr txBox="1"/>
          <p:nvPr/>
        </p:nvSpPr>
        <p:spPr>
          <a:xfrm>
            <a:off x="4790836" y="3062287"/>
            <a:ext cx="2610326" cy="552450"/>
          </a:xfrm>
          <a:prstGeom prst="rect">
            <a:avLst/>
          </a:prstGeom>
          <a:noFill/>
        </p:spPr>
        <p:txBody>
          <a:bodyPr wrap="square" lIns="0" tIns="0" rIns="0" bIns="0" anchor="t">
            <a:spAutoFit/>
          </a:bodyPr>
          <a:lstStyle/>
          <a:p>
            <a:pPr algn="ctr"/>
            <a:r>
              <a:rPr sz="1800" b="1" i="0" u="none">
                <a:solidFill>
                  <a:srgbClr val="000000"/>
                </a:solidFill>
                <a:latin typeface="Inter"/>
              </a:rPr>
              <a:t>ESP32 / Arduino Nano</a:t>
            </a:r>
            <a:r>
              <a:t>
</a:t>
            </a:r>
            <a:r>
              <a:rPr sz="1800" b="1" i="0" u="none">
                <a:solidFill>
                  <a:srgbClr val="000000"/>
                </a:solidFill>
                <a:latin typeface="Inter"/>
              </a:rPr>
              <a:t> Microcontroller Unit</a:t>
            </a:r>
          </a:p>
        </p:txBody>
      </p:sp>
      <p:pic>
        <p:nvPicPr>
          <p:cNvPr id="32" name="Picture 31" descr="image.png">
            <a:extLst>
              <a:ext uri="{FF2B5EF4-FFF2-40B4-BE49-F238E27FC236}">
                <a16:creationId xmlns:a16="http://schemas.microsoft.com/office/drawing/2014/main" id="{2B806356-EB4A-94E2-A592-63D8D434CAD3}"/>
              </a:ext>
            </a:extLst>
          </p:cNvPr>
          <p:cNvPicPr>
            <a:picLocks noChangeAspect="1"/>
          </p:cNvPicPr>
          <p:nvPr/>
        </p:nvPicPr>
        <p:blipFill>
          <a:blip r:embed="rId15"/>
          <a:stretch>
            <a:fillRect/>
          </a:stretch>
        </p:blipFill>
        <p:spPr>
          <a:xfrm>
            <a:off x="5524500" y="3805237"/>
            <a:ext cx="1143000" cy="1143000"/>
          </a:xfrm>
          <a:prstGeom prst="rect">
            <a:avLst/>
          </a:prstGeom>
        </p:spPr>
      </p:pic>
      <p:sp>
        <p:nvSpPr>
          <p:cNvPr id="33" name="TextBox 32">
            <a:extLst>
              <a:ext uri="{FF2B5EF4-FFF2-40B4-BE49-F238E27FC236}">
                <a16:creationId xmlns:a16="http://schemas.microsoft.com/office/drawing/2014/main" id="{F124FA8F-C133-1D19-75A6-8CBFF2A2C3A4}"/>
              </a:ext>
            </a:extLst>
          </p:cNvPr>
          <p:cNvSpPr txBox="1"/>
          <p:nvPr/>
        </p:nvSpPr>
        <p:spPr>
          <a:xfrm>
            <a:off x="8722935" y="2217687"/>
            <a:ext cx="2782847" cy="400050"/>
          </a:xfrm>
          <a:prstGeom prst="rect">
            <a:avLst/>
          </a:prstGeom>
          <a:noFill/>
        </p:spPr>
        <p:txBody>
          <a:bodyPr wrap="square" lIns="0" tIns="0" rIns="0" bIns="0" anchor="t">
            <a:spAutoFit/>
          </a:bodyPr>
          <a:lstStyle/>
          <a:p>
            <a:pPr algn="ctr"/>
            <a:r>
              <a:rPr sz="1350" b="1" i="0" u="none">
                <a:solidFill>
                  <a:srgbClr val="334155"/>
                </a:solidFill>
                <a:latin typeface="Inter"/>
              </a:rPr>
              <a:t>L298N Motor Driver &amp; DC Motors</a:t>
            </a:r>
          </a:p>
        </p:txBody>
      </p:sp>
      <p:pic>
        <p:nvPicPr>
          <p:cNvPr id="34" name="Picture 33" descr="image.png">
            <a:extLst>
              <a:ext uri="{FF2B5EF4-FFF2-40B4-BE49-F238E27FC236}">
                <a16:creationId xmlns:a16="http://schemas.microsoft.com/office/drawing/2014/main" id="{5DB6724C-FFEE-6EB3-6343-5BA8569D3495}"/>
              </a:ext>
            </a:extLst>
          </p:cNvPr>
          <p:cNvPicPr>
            <a:picLocks noChangeAspect="1"/>
          </p:cNvPicPr>
          <p:nvPr/>
        </p:nvPicPr>
        <p:blipFill>
          <a:blip r:embed="rId16"/>
          <a:stretch>
            <a:fillRect/>
          </a:stretch>
        </p:blipFill>
        <p:spPr>
          <a:xfrm>
            <a:off x="9876234" y="2712987"/>
            <a:ext cx="476250" cy="381000"/>
          </a:xfrm>
          <a:prstGeom prst="rect">
            <a:avLst/>
          </a:prstGeom>
        </p:spPr>
      </p:pic>
      <p:sp>
        <p:nvSpPr>
          <p:cNvPr id="35" name="TextBox 34">
            <a:extLst>
              <a:ext uri="{FF2B5EF4-FFF2-40B4-BE49-F238E27FC236}">
                <a16:creationId xmlns:a16="http://schemas.microsoft.com/office/drawing/2014/main" id="{029E99C2-56EB-E63C-CF91-20DD981FE800}"/>
              </a:ext>
            </a:extLst>
          </p:cNvPr>
          <p:cNvSpPr txBox="1"/>
          <p:nvPr/>
        </p:nvSpPr>
        <p:spPr>
          <a:xfrm>
            <a:off x="9339262" y="3790950"/>
            <a:ext cx="1550193" cy="200025"/>
          </a:xfrm>
          <a:prstGeom prst="rect">
            <a:avLst/>
          </a:prstGeom>
          <a:noFill/>
        </p:spPr>
        <p:txBody>
          <a:bodyPr wrap="square" lIns="0" tIns="0" rIns="0" bIns="0" anchor="t">
            <a:spAutoFit/>
          </a:bodyPr>
          <a:lstStyle/>
          <a:p>
            <a:pPr algn="ctr"/>
            <a:r>
              <a:rPr sz="1350" b="1" i="0" u="none">
                <a:solidFill>
                  <a:srgbClr val="334155"/>
                </a:solidFill>
                <a:latin typeface="Inter"/>
              </a:rPr>
              <a:t>20x4 LCD Display</a:t>
            </a:r>
          </a:p>
        </p:txBody>
      </p:sp>
      <p:pic>
        <p:nvPicPr>
          <p:cNvPr id="36" name="Picture 35" descr="image.png">
            <a:extLst>
              <a:ext uri="{FF2B5EF4-FFF2-40B4-BE49-F238E27FC236}">
                <a16:creationId xmlns:a16="http://schemas.microsoft.com/office/drawing/2014/main" id="{F82C54A9-878D-FB4B-EC5C-562F8F9D9679}"/>
              </a:ext>
            </a:extLst>
          </p:cNvPr>
          <p:cNvPicPr>
            <a:picLocks noChangeAspect="1"/>
          </p:cNvPicPr>
          <p:nvPr/>
        </p:nvPicPr>
        <p:blipFill>
          <a:blip r:embed="rId17"/>
          <a:stretch>
            <a:fillRect/>
          </a:stretch>
        </p:blipFill>
        <p:spPr>
          <a:xfrm>
            <a:off x="9900046" y="4086225"/>
            <a:ext cx="428625" cy="381000"/>
          </a:xfrm>
          <a:prstGeom prst="rect">
            <a:avLst/>
          </a:prstGeom>
        </p:spPr>
      </p:pic>
      <p:sp>
        <p:nvSpPr>
          <p:cNvPr id="37" name="TextBox 36">
            <a:extLst>
              <a:ext uri="{FF2B5EF4-FFF2-40B4-BE49-F238E27FC236}">
                <a16:creationId xmlns:a16="http://schemas.microsoft.com/office/drawing/2014/main" id="{0984E08E-07C5-2FF6-FE1D-3C0080F1CB6E}"/>
              </a:ext>
            </a:extLst>
          </p:cNvPr>
          <p:cNvSpPr txBox="1"/>
          <p:nvPr/>
        </p:nvSpPr>
        <p:spPr>
          <a:xfrm>
            <a:off x="9489281" y="5264199"/>
            <a:ext cx="1250156" cy="200025"/>
          </a:xfrm>
          <a:prstGeom prst="rect">
            <a:avLst/>
          </a:prstGeom>
          <a:noFill/>
        </p:spPr>
        <p:txBody>
          <a:bodyPr wrap="square" lIns="0" tIns="0" rIns="0" bIns="0" anchor="t">
            <a:spAutoFit/>
          </a:bodyPr>
          <a:lstStyle/>
          <a:p>
            <a:pPr algn="ctr"/>
            <a:r>
              <a:rPr sz="1350" b="1" i="0" u="none">
                <a:solidFill>
                  <a:srgbClr val="334155"/>
                </a:solidFill>
                <a:latin typeface="Inter"/>
              </a:rPr>
              <a:t>IoT Dashboard</a:t>
            </a:r>
          </a:p>
        </p:txBody>
      </p:sp>
      <p:pic>
        <p:nvPicPr>
          <p:cNvPr id="38" name="Picture 37" descr="image.png">
            <a:extLst>
              <a:ext uri="{FF2B5EF4-FFF2-40B4-BE49-F238E27FC236}">
                <a16:creationId xmlns:a16="http://schemas.microsoft.com/office/drawing/2014/main" id="{80B29185-287E-5BEB-75ED-5D3E743C4534}"/>
              </a:ext>
            </a:extLst>
          </p:cNvPr>
          <p:cNvPicPr>
            <a:picLocks noChangeAspect="1"/>
          </p:cNvPicPr>
          <p:nvPr/>
        </p:nvPicPr>
        <p:blipFill>
          <a:blip r:embed="rId18"/>
          <a:stretch>
            <a:fillRect/>
          </a:stretch>
        </p:blipFill>
        <p:spPr>
          <a:xfrm>
            <a:off x="9876234" y="5559474"/>
            <a:ext cx="476250" cy="381000"/>
          </a:xfrm>
          <a:prstGeom prst="rect">
            <a:avLst/>
          </a:prstGeom>
        </p:spPr>
      </p:pic>
      <p:pic>
        <p:nvPicPr>
          <p:cNvPr id="39" name="Picture 38" descr="image.png">
            <a:extLst>
              <a:ext uri="{FF2B5EF4-FFF2-40B4-BE49-F238E27FC236}">
                <a16:creationId xmlns:a16="http://schemas.microsoft.com/office/drawing/2014/main" id="{8EBF9B6F-6F70-4731-CCFB-B9D207034F09}"/>
              </a:ext>
            </a:extLst>
          </p:cNvPr>
          <p:cNvPicPr>
            <a:picLocks noChangeAspect="1"/>
          </p:cNvPicPr>
          <p:nvPr/>
        </p:nvPicPr>
        <p:blipFill>
          <a:blip r:embed="rId19"/>
          <a:stretch>
            <a:fillRect/>
          </a:stretch>
        </p:blipFill>
        <p:spPr>
          <a:xfrm>
            <a:off x="3659981" y="3571875"/>
            <a:ext cx="333375" cy="381000"/>
          </a:xfrm>
          <a:prstGeom prst="rect">
            <a:avLst/>
          </a:prstGeom>
        </p:spPr>
      </p:pic>
      <p:pic>
        <p:nvPicPr>
          <p:cNvPr id="40" name="Picture 39" descr="image.png">
            <a:extLst>
              <a:ext uri="{FF2B5EF4-FFF2-40B4-BE49-F238E27FC236}">
                <a16:creationId xmlns:a16="http://schemas.microsoft.com/office/drawing/2014/main" id="{E6D3FB17-A534-905B-62CB-4D580C7060A7}"/>
              </a:ext>
            </a:extLst>
          </p:cNvPr>
          <p:cNvPicPr>
            <a:picLocks noChangeAspect="1"/>
          </p:cNvPicPr>
          <p:nvPr/>
        </p:nvPicPr>
        <p:blipFill>
          <a:blip r:embed="rId20"/>
          <a:stretch>
            <a:fillRect/>
          </a:stretch>
        </p:blipFill>
        <p:spPr>
          <a:xfrm>
            <a:off x="8208168" y="3571875"/>
            <a:ext cx="333375" cy="381000"/>
          </a:xfrm>
          <a:prstGeom prst="rect">
            <a:avLst/>
          </a:prstGeom>
        </p:spPr>
      </p:pic>
      <p:pic>
        <p:nvPicPr>
          <p:cNvPr id="42" name="Picture 41">
            <a:extLst>
              <a:ext uri="{FF2B5EF4-FFF2-40B4-BE49-F238E27FC236}">
                <a16:creationId xmlns:a16="http://schemas.microsoft.com/office/drawing/2014/main" id="{ABAB5085-328D-3740-59E2-400F2003FBEC}"/>
              </a:ext>
            </a:extLst>
          </p:cNvPr>
          <p:cNvPicPr>
            <a:picLocks noChangeAspect="1"/>
          </p:cNvPicPr>
          <p:nvPr/>
        </p:nvPicPr>
        <p:blipFill>
          <a:blip r:embed="rId21"/>
          <a:stretch>
            <a:fillRect/>
          </a:stretch>
        </p:blipFill>
        <p:spPr>
          <a:xfrm>
            <a:off x="9313068" y="-31395"/>
            <a:ext cx="2852738" cy="666751"/>
          </a:xfrm>
          <a:prstGeom prst="rect">
            <a:avLst/>
          </a:prstGeom>
        </p:spPr>
      </p:pic>
    </p:spTree>
    <p:extLst>
      <p:ext uri="{BB962C8B-B14F-4D97-AF65-F5344CB8AC3E}">
        <p14:creationId xmlns:p14="http://schemas.microsoft.com/office/powerpoint/2010/main" val="1284205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81000" y="5543550"/>
            <a:ext cx="11430000" cy="933450"/>
          </a:xfrm>
          <a:prstGeom prst="rect">
            <a:avLst/>
          </a:prstGeom>
        </p:spPr>
      </p:pic>
      <p:pic>
        <p:nvPicPr>
          <p:cNvPr id="4" name="Picture 3" descr="image.png"/>
          <p:cNvPicPr>
            <a:picLocks noChangeAspect="1"/>
          </p:cNvPicPr>
          <p:nvPr/>
        </p:nvPicPr>
        <p:blipFill>
          <a:blip r:embed="rId4"/>
          <a:stretch>
            <a:fillRect/>
          </a:stretch>
        </p:blipFill>
        <p:spPr>
          <a:xfrm>
            <a:off x="381000" y="1047750"/>
            <a:ext cx="6044058" cy="4667250"/>
          </a:xfrm>
          <a:prstGeom prst="rect">
            <a:avLst/>
          </a:prstGeom>
        </p:spPr>
      </p:pic>
      <p:pic>
        <p:nvPicPr>
          <p:cNvPr id="5" name="Picture 4" descr="image.png"/>
          <p:cNvPicPr>
            <a:picLocks noChangeAspect="1"/>
          </p:cNvPicPr>
          <p:nvPr/>
        </p:nvPicPr>
        <p:blipFill>
          <a:blip r:embed="rId5"/>
          <a:stretch>
            <a:fillRect/>
          </a:stretch>
        </p:blipFill>
        <p:spPr>
          <a:xfrm>
            <a:off x="6806058" y="1704975"/>
            <a:ext cx="333375" cy="333375"/>
          </a:xfrm>
          <a:prstGeom prst="rect">
            <a:avLst/>
          </a:prstGeom>
        </p:spPr>
      </p:pic>
      <p:pic>
        <p:nvPicPr>
          <p:cNvPr id="6" name="Picture 5" descr="image.png"/>
          <p:cNvPicPr>
            <a:picLocks noChangeAspect="1"/>
          </p:cNvPicPr>
          <p:nvPr/>
        </p:nvPicPr>
        <p:blipFill>
          <a:blip r:embed="rId6"/>
          <a:stretch>
            <a:fillRect/>
          </a:stretch>
        </p:blipFill>
        <p:spPr>
          <a:xfrm>
            <a:off x="6806058" y="2529780"/>
            <a:ext cx="333375" cy="333375"/>
          </a:xfrm>
          <a:prstGeom prst="rect">
            <a:avLst/>
          </a:prstGeom>
        </p:spPr>
      </p:pic>
      <p:pic>
        <p:nvPicPr>
          <p:cNvPr id="7" name="Picture 6" descr="image.png"/>
          <p:cNvPicPr>
            <a:picLocks noChangeAspect="1"/>
          </p:cNvPicPr>
          <p:nvPr/>
        </p:nvPicPr>
        <p:blipFill>
          <a:blip r:embed="rId7"/>
          <a:stretch>
            <a:fillRect/>
          </a:stretch>
        </p:blipFill>
        <p:spPr>
          <a:xfrm>
            <a:off x="6806058" y="3354585"/>
            <a:ext cx="333375" cy="333375"/>
          </a:xfrm>
          <a:prstGeom prst="rect">
            <a:avLst/>
          </a:prstGeom>
        </p:spPr>
      </p:pic>
      <p:pic>
        <p:nvPicPr>
          <p:cNvPr id="8" name="Picture 7" descr="image.png"/>
          <p:cNvPicPr>
            <a:picLocks noChangeAspect="1"/>
          </p:cNvPicPr>
          <p:nvPr/>
        </p:nvPicPr>
        <p:blipFill>
          <a:blip r:embed="rId8"/>
          <a:stretch>
            <a:fillRect/>
          </a:stretch>
        </p:blipFill>
        <p:spPr>
          <a:xfrm>
            <a:off x="6806058" y="4179391"/>
            <a:ext cx="333375" cy="333375"/>
          </a:xfrm>
          <a:prstGeom prst="rect">
            <a:avLst/>
          </a:prstGeom>
        </p:spPr>
      </p:pic>
      <p:pic>
        <p:nvPicPr>
          <p:cNvPr id="9" name="Picture 8" descr="image.png"/>
          <p:cNvPicPr>
            <a:picLocks noChangeAspect="1"/>
          </p:cNvPicPr>
          <p:nvPr/>
        </p:nvPicPr>
        <p:blipFill>
          <a:blip r:embed="rId9"/>
          <a:stretch>
            <a:fillRect/>
          </a:stretch>
        </p:blipFill>
        <p:spPr>
          <a:xfrm>
            <a:off x="6806058" y="5297537"/>
            <a:ext cx="333375" cy="333375"/>
          </a:xfrm>
          <a:prstGeom prst="rect">
            <a:avLst/>
          </a:prstGeom>
        </p:spPr>
      </p:pic>
      <p:pic>
        <p:nvPicPr>
          <p:cNvPr id="10" name="Picture 9" descr="image.png"/>
          <p:cNvPicPr>
            <a:picLocks noChangeAspect="1"/>
          </p:cNvPicPr>
          <p:nvPr/>
        </p:nvPicPr>
        <p:blipFill>
          <a:blip r:embed="rId10"/>
          <a:stretch>
            <a:fillRect/>
          </a:stretch>
        </p:blipFill>
        <p:spPr>
          <a:xfrm>
            <a:off x="0" y="0"/>
            <a:ext cx="12192000" cy="666750"/>
          </a:xfrm>
          <a:prstGeom prst="rect">
            <a:avLst/>
          </a:prstGeom>
        </p:spPr>
      </p:pic>
      <p:sp>
        <p:nvSpPr>
          <p:cNvPr id="11" name="TextBox 10"/>
          <p:cNvSpPr txBox="1"/>
          <p:nvPr/>
        </p:nvSpPr>
        <p:spPr>
          <a:xfrm>
            <a:off x="381000" y="180975"/>
            <a:ext cx="5548312" cy="276225"/>
          </a:xfrm>
          <a:prstGeom prst="rect">
            <a:avLst/>
          </a:prstGeom>
          <a:noFill/>
        </p:spPr>
        <p:txBody>
          <a:bodyPr wrap="square" lIns="0" tIns="0" rIns="0" bIns="0" anchor="t">
            <a:spAutoFit/>
          </a:bodyPr>
          <a:lstStyle/>
          <a:p>
            <a:pPr algn="l"/>
            <a:r>
              <a:rPr sz="1800" b="0" i="0" u="none">
                <a:solidFill>
                  <a:srgbClr val="1E293B"/>
                </a:solidFill>
                <a:latin typeface="Inter SemiBold"/>
              </a:rPr>
              <a:t>HARDWARE ANATOMY &amp; PROTEUS SIMULATION</a:t>
            </a:r>
          </a:p>
        </p:txBody>
      </p:sp>
      <p:pic>
        <p:nvPicPr>
          <p:cNvPr id="13" name="Picture 12" descr="image.png"/>
          <p:cNvPicPr>
            <a:picLocks noChangeAspect="1"/>
          </p:cNvPicPr>
          <p:nvPr/>
        </p:nvPicPr>
        <p:blipFill>
          <a:blip r:embed="rId11"/>
          <a:stretch>
            <a:fillRect/>
          </a:stretch>
        </p:blipFill>
        <p:spPr>
          <a:xfrm>
            <a:off x="400050" y="1066800"/>
            <a:ext cx="6005958" cy="4476750"/>
          </a:xfrm>
          <a:prstGeom prst="rect">
            <a:avLst/>
          </a:prstGeom>
        </p:spPr>
      </p:pic>
      <p:sp>
        <p:nvSpPr>
          <p:cNvPr id="14" name="TextBox 13"/>
          <p:cNvSpPr txBox="1"/>
          <p:nvPr/>
        </p:nvSpPr>
        <p:spPr>
          <a:xfrm>
            <a:off x="6806058" y="1047750"/>
            <a:ext cx="5255188" cy="371475"/>
          </a:xfrm>
          <a:prstGeom prst="rect">
            <a:avLst/>
          </a:prstGeom>
          <a:noFill/>
        </p:spPr>
        <p:txBody>
          <a:bodyPr wrap="square" lIns="0" tIns="0" rIns="0" bIns="0" anchor="t">
            <a:spAutoFit/>
          </a:bodyPr>
          <a:lstStyle/>
          <a:p>
            <a:pPr algn="l"/>
            <a:r>
              <a:rPr sz="2400" b="1" i="0" u="none">
                <a:solidFill>
                  <a:srgbClr val="1E293B"/>
                </a:solidFill>
                <a:latin typeface="Inter"/>
              </a:rPr>
              <a:t>Side-Panel Legend</a:t>
            </a:r>
          </a:p>
        </p:txBody>
      </p:sp>
      <p:sp>
        <p:nvSpPr>
          <p:cNvPr id="15" name="TextBox 14"/>
          <p:cNvSpPr txBox="1"/>
          <p:nvPr/>
        </p:nvSpPr>
        <p:spPr>
          <a:xfrm>
            <a:off x="7187059" y="1657350"/>
            <a:ext cx="5004941" cy="586680"/>
          </a:xfrm>
          <a:prstGeom prst="rect">
            <a:avLst/>
          </a:prstGeom>
          <a:noFill/>
        </p:spPr>
        <p:txBody>
          <a:bodyPr wrap="square" lIns="0" tIns="0" rIns="0" bIns="0" anchor="t">
            <a:spAutoFit/>
          </a:bodyPr>
          <a:lstStyle/>
          <a:p>
            <a:pPr algn="l">
              <a:lnSpc>
                <a:spcPts val="2310"/>
              </a:lnSpc>
            </a:pPr>
            <a:r>
              <a:rPr sz="1650" b="0" i="0" u="none" dirty="0">
                <a:solidFill>
                  <a:srgbClr val="334155"/>
                </a:solidFill>
                <a:latin typeface="Inter"/>
              </a:rPr>
              <a:t>Central MCU: Arduino Nano managing the logic gates.</a:t>
            </a:r>
          </a:p>
        </p:txBody>
      </p:sp>
      <p:sp>
        <p:nvSpPr>
          <p:cNvPr id="16" name="TextBox 15"/>
          <p:cNvSpPr txBox="1"/>
          <p:nvPr/>
        </p:nvSpPr>
        <p:spPr>
          <a:xfrm>
            <a:off x="7206109" y="2490043"/>
            <a:ext cx="5004941" cy="586680"/>
          </a:xfrm>
          <a:prstGeom prst="rect">
            <a:avLst/>
          </a:prstGeom>
          <a:noFill/>
        </p:spPr>
        <p:txBody>
          <a:bodyPr wrap="square" lIns="0" tIns="0" rIns="0" bIns="0" anchor="t">
            <a:spAutoFit/>
          </a:bodyPr>
          <a:lstStyle/>
          <a:p>
            <a:pPr algn="l">
              <a:lnSpc>
                <a:spcPts val="2310"/>
              </a:lnSpc>
            </a:pPr>
            <a:r>
              <a:rPr sz="1650" b="0" i="0" u="none" dirty="0">
                <a:solidFill>
                  <a:srgbClr val="334155"/>
                </a:solidFill>
                <a:latin typeface="Inter"/>
              </a:rPr>
              <a:t>Entrance Detection: Ultrasonic sensor (SONAR1) wired for approach triggering.</a:t>
            </a:r>
          </a:p>
        </p:txBody>
      </p:sp>
      <p:sp>
        <p:nvSpPr>
          <p:cNvPr id="17" name="TextBox 16"/>
          <p:cNvSpPr txBox="1"/>
          <p:nvPr/>
        </p:nvSpPr>
        <p:spPr>
          <a:xfrm>
            <a:off x="7219481" y="3307110"/>
            <a:ext cx="5004941" cy="586680"/>
          </a:xfrm>
          <a:prstGeom prst="rect">
            <a:avLst/>
          </a:prstGeom>
          <a:noFill/>
        </p:spPr>
        <p:txBody>
          <a:bodyPr wrap="square" lIns="0" tIns="0" rIns="0" bIns="0" anchor="t">
            <a:spAutoFit/>
          </a:bodyPr>
          <a:lstStyle/>
          <a:p>
            <a:pPr algn="l">
              <a:lnSpc>
                <a:spcPts val="2310"/>
              </a:lnSpc>
            </a:pPr>
            <a:r>
              <a:rPr sz="1650" b="0" i="0" u="none" dirty="0">
                <a:solidFill>
                  <a:srgbClr val="334155"/>
                </a:solidFill>
                <a:latin typeface="Inter"/>
              </a:rPr>
              <a:t>Bay Occupancy: Array of 4x IR obstacle sensors monitoring individual slots.</a:t>
            </a:r>
          </a:p>
        </p:txBody>
      </p:sp>
      <p:sp>
        <p:nvSpPr>
          <p:cNvPr id="18" name="TextBox 17"/>
          <p:cNvSpPr txBox="1"/>
          <p:nvPr/>
        </p:nvSpPr>
        <p:spPr>
          <a:xfrm>
            <a:off x="7219481" y="4155653"/>
            <a:ext cx="5004941" cy="880020"/>
          </a:xfrm>
          <a:prstGeom prst="rect">
            <a:avLst/>
          </a:prstGeom>
          <a:noFill/>
        </p:spPr>
        <p:txBody>
          <a:bodyPr wrap="square" lIns="0" tIns="0" rIns="0" bIns="0" anchor="t">
            <a:spAutoFit/>
          </a:bodyPr>
          <a:lstStyle/>
          <a:p>
            <a:pPr algn="l">
              <a:lnSpc>
                <a:spcPts val="2310"/>
              </a:lnSpc>
            </a:pPr>
            <a:r>
              <a:rPr sz="1650" b="0" i="0" u="none" dirty="0">
                <a:solidFill>
                  <a:srgbClr val="334155"/>
                </a:solidFill>
                <a:latin typeface="Inter"/>
              </a:rPr>
              <a:t>Actuation Driver: L298N Motor Driver bridging the MCU and the physical gate motors.</a:t>
            </a:r>
          </a:p>
        </p:txBody>
      </p:sp>
      <p:sp>
        <p:nvSpPr>
          <p:cNvPr id="19" name="TextBox 18"/>
          <p:cNvSpPr txBox="1"/>
          <p:nvPr/>
        </p:nvSpPr>
        <p:spPr>
          <a:xfrm>
            <a:off x="7219481" y="5256533"/>
            <a:ext cx="5004941" cy="586680"/>
          </a:xfrm>
          <a:prstGeom prst="rect">
            <a:avLst/>
          </a:prstGeom>
          <a:noFill/>
        </p:spPr>
        <p:txBody>
          <a:bodyPr wrap="square" lIns="0" tIns="0" rIns="0" bIns="0" anchor="t">
            <a:spAutoFit/>
          </a:bodyPr>
          <a:lstStyle/>
          <a:p>
            <a:pPr algn="l">
              <a:lnSpc>
                <a:spcPts val="2310"/>
              </a:lnSpc>
            </a:pPr>
            <a:r>
              <a:rPr sz="1650" b="0" i="0" u="none" dirty="0">
                <a:solidFill>
                  <a:srgbClr val="334155"/>
                </a:solidFill>
                <a:latin typeface="Inter"/>
              </a:rPr>
              <a:t>Local UI: LCD 20x4 wired for immediate status readouts.</a:t>
            </a:r>
          </a:p>
        </p:txBody>
      </p:sp>
      <p:pic>
        <p:nvPicPr>
          <p:cNvPr id="21" name="Picture 20">
            <a:extLst>
              <a:ext uri="{FF2B5EF4-FFF2-40B4-BE49-F238E27FC236}">
                <a16:creationId xmlns:a16="http://schemas.microsoft.com/office/drawing/2014/main" id="{0D435774-6E2C-AC25-EA5B-F3F8B885B004}"/>
              </a:ext>
            </a:extLst>
          </p:cNvPr>
          <p:cNvPicPr>
            <a:picLocks noChangeAspect="1"/>
          </p:cNvPicPr>
          <p:nvPr/>
        </p:nvPicPr>
        <p:blipFill>
          <a:blip r:embed="rId12"/>
          <a:stretch>
            <a:fillRect/>
          </a:stretch>
        </p:blipFill>
        <p:spPr>
          <a:xfrm>
            <a:off x="9405383" y="-31180"/>
            <a:ext cx="2786617" cy="666751"/>
          </a:xfrm>
          <a:prstGeom prst="rect">
            <a:avLst/>
          </a:prstGeom>
        </p:spPr>
      </p:pic>
      <p:pic>
        <p:nvPicPr>
          <p:cNvPr id="23" name="Picture 22">
            <a:extLst>
              <a:ext uri="{FF2B5EF4-FFF2-40B4-BE49-F238E27FC236}">
                <a16:creationId xmlns:a16="http://schemas.microsoft.com/office/drawing/2014/main" id="{94407D82-5D91-D70F-7CD7-45C4B6F4B50C}"/>
              </a:ext>
            </a:extLst>
          </p:cNvPr>
          <p:cNvPicPr>
            <a:picLocks noChangeAspect="1"/>
          </p:cNvPicPr>
          <p:nvPr/>
        </p:nvPicPr>
        <p:blipFill>
          <a:blip r:embed="rId13"/>
          <a:stretch>
            <a:fillRect/>
          </a:stretch>
        </p:blipFill>
        <p:spPr>
          <a:xfrm>
            <a:off x="381000" y="1047751"/>
            <a:ext cx="6044058" cy="45021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a:hlinkClick r:id="rId2" action="ppaction://hlinksldjump"/>
          </p:cNvPr>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381000" y="1933575"/>
            <a:ext cx="5524500" cy="3810000"/>
          </a:xfrm>
          <a:prstGeom prst="rect">
            <a:avLst/>
          </a:prstGeom>
        </p:spPr>
      </p:pic>
      <p:pic>
        <p:nvPicPr>
          <p:cNvPr id="4" name="Picture 3" descr="image.png"/>
          <p:cNvPicPr>
            <a:picLocks noChangeAspect="1"/>
          </p:cNvPicPr>
          <p:nvPr/>
        </p:nvPicPr>
        <p:blipFill>
          <a:blip r:embed="rId5"/>
          <a:stretch>
            <a:fillRect/>
          </a:stretch>
        </p:blipFill>
        <p:spPr>
          <a:xfrm>
            <a:off x="336875" y="1190625"/>
            <a:ext cx="5524500" cy="742950"/>
          </a:xfrm>
          <a:prstGeom prst="rect">
            <a:avLst/>
          </a:prstGeom>
        </p:spPr>
      </p:pic>
      <p:pic>
        <p:nvPicPr>
          <p:cNvPr id="5" name="Picture 4" descr="image.png"/>
          <p:cNvPicPr>
            <a:picLocks noChangeAspect="1"/>
          </p:cNvPicPr>
          <p:nvPr/>
        </p:nvPicPr>
        <p:blipFill>
          <a:blip r:embed="rId6"/>
          <a:stretch>
            <a:fillRect/>
          </a:stretch>
        </p:blipFill>
        <p:spPr>
          <a:xfrm>
            <a:off x="269033" y="5929312"/>
            <a:ext cx="5524500" cy="742950"/>
          </a:xfrm>
          <a:prstGeom prst="rect">
            <a:avLst/>
          </a:prstGeom>
        </p:spPr>
      </p:pic>
      <p:pic>
        <p:nvPicPr>
          <p:cNvPr id="6" name="Picture 5" descr="image.png"/>
          <p:cNvPicPr>
            <a:picLocks noChangeAspect="1"/>
          </p:cNvPicPr>
          <p:nvPr/>
        </p:nvPicPr>
        <p:blipFill>
          <a:blip r:embed="rId7"/>
          <a:stretch>
            <a:fillRect/>
          </a:stretch>
        </p:blipFill>
        <p:spPr>
          <a:xfrm>
            <a:off x="6286500" y="1933575"/>
            <a:ext cx="5524500" cy="3810000"/>
          </a:xfrm>
          <a:prstGeom prst="rect">
            <a:avLst/>
          </a:prstGeom>
        </p:spPr>
      </p:pic>
      <p:pic>
        <p:nvPicPr>
          <p:cNvPr id="7" name="Picture 6" descr="image.png"/>
          <p:cNvPicPr>
            <a:picLocks noChangeAspect="1"/>
          </p:cNvPicPr>
          <p:nvPr/>
        </p:nvPicPr>
        <p:blipFill>
          <a:blip r:embed="rId8"/>
          <a:stretch>
            <a:fillRect/>
          </a:stretch>
        </p:blipFill>
        <p:spPr>
          <a:xfrm>
            <a:off x="6264437" y="1247775"/>
            <a:ext cx="5524500" cy="571500"/>
          </a:xfrm>
          <a:prstGeom prst="rect">
            <a:avLst/>
          </a:prstGeom>
        </p:spPr>
      </p:pic>
      <p:pic>
        <p:nvPicPr>
          <p:cNvPr id="8" name="Picture 7" descr="image.png"/>
          <p:cNvPicPr>
            <a:picLocks noChangeAspect="1"/>
          </p:cNvPicPr>
          <p:nvPr/>
        </p:nvPicPr>
        <p:blipFill>
          <a:blip r:embed="rId9"/>
          <a:stretch>
            <a:fillRect/>
          </a:stretch>
        </p:blipFill>
        <p:spPr>
          <a:xfrm>
            <a:off x="6299038" y="6008330"/>
            <a:ext cx="5524500" cy="571500"/>
          </a:xfrm>
          <a:prstGeom prst="rect">
            <a:avLst/>
          </a:prstGeom>
        </p:spPr>
      </p:pic>
      <p:pic>
        <p:nvPicPr>
          <p:cNvPr id="10" name="Picture 9" descr="image.png"/>
          <p:cNvPicPr>
            <a:picLocks noChangeAspect="1"/>
          </p:cNvPicPr>
          <p:nvPr/>
        </p:nvPicPr>
        <p:blipFill>
          <a:blip r:embed="rId10"/>
          <a:stretch>
            <a:fillRect/>
          </a:stretch>
        </p:blipFill>
        <p:spPr>
          <a:xfrm>
            <a:off x="561975" y="7096125"/>
            <a:ext cx="285750" cy="285750"/>
          </a:xfrm>
          <a:prstGeom prst="rect">
            <a:avLst/>
          </a:prstGeom>
        </p:spPr>
      </p:pic>
      <p:pic>
        <p:nvPicPr>
          <p:cNvPr id="13" name="Picture 12" descr="image.png"/>
          <p:cNvPicPr>
            <a:picLocks noChangeAspect="1"/>
          </p:cNvPicPr>
          <p:nvPr/>
        </p:nvPicPr>
        <p:blipFill>
          <a:blip r:embed="rId11"/>
          <a:stretch>
            <a:fillRect/>
          </a:stretch>
        </p:blipFill>
        <p:spPr>
          <a:xfrm>
            <a:off x="0" y="0"/>
            <a:ext cx="12192000" cy="666750"/>
          </a:xfrm>
          <a:prstGeom prst="rect">
            <a:avLst/>
          </a:prstGeom>
        </p:spPr>
      </p:pic>
      <p:pic>
        <p:nvPicPr>
          <p:cNvPr id="14" name="Picture 13" descr="image.png"/>
          <p:cNvPicPr>
            <a:picLocks noChangeAspect="1"/>
          </p:cNvPicPr>
          <p:nvPr/>
        </p:nvPicPr>
        <p:blipFill>
          <a:blip r:embed="rId12"/>
          <a:stretch>
            <a:fillRect/>
          </a:stretch>
        </p:blipFill>
        <p:spPr>
          <a:xfrm>
            <a:off x="5257800" y="142875"/>
            <a:ext cx="3790950" cy="438150"/>
          </a:xfrm>
          <a:prstGeom prst="rect">
            <a:avLst/>
          </a:prstGeom>
        </p:spPr>
      </p:pic>
      <p:sp>
        <p:nvSpPr>
          <p:cNvPr id="15" name="TextBox 14"/>
          <p:cNvSpPr txBox="1"/>
          <p:nvPr/>
        </p:nvSpPr>
        <p:spPr>
          <a:xfrm>
            <a:off x="381000" y="180975"/>
            <a:ext cx="6134100" cy="276225"/>
          </a:xfrm>
          <a:prstGeom prst="rect">
            <a:avLst/>
          </a:prstGeom>
          <a:noFill/>
        </p:spPr>
        <p:txBody>
          <a:bodyPr wrap="square" lIns="0" tIns="0" rIns="0" bIns="0" anchor="t">
            <a:spAutoFit/>
          </a:bodyPr>
          <a:lstStyle/>
          <a:p>
            <a:pPr algn="l"/>
            <a:r>
              <a:rPr sz="1800" b="0" i="0" u="none" dirty="0">
                <a:solidFill>
                  <a:srgbClr val="1E293B"/>
                </a:solidFill>
                <a:latin typeface="Inter SemiBold"/>
              </a:rPr>
              <a:t>MILESTONE: PHYSICAL PROTOTYPE BUILD</a:t>
            </a:r>
          </a:p>
        </p:txBody>
      </p:sp>
      <p:pic>
        <p:nvPicPr>
          <p:cNvPr id="16" name="Picture 15" descr="image.png"/>
          <p:cNvPicPr>
            <a:picLocks noChangeAspect="1"/>
          </p:cNvPicPr>
          <p:nvPr/>
        </p:nvPicPr>
        <p:blipFill>
          <a:blip r:embed="rId13"/>
          <a:stretch>
            <a:fillRect/>
          </a:stretch>
        </p:blipFill>
        <p:spPr>
          <a:xfrm>
            <a:off x="10020300" y="80962"/>
            <a:ext cx="1790700" cy="476250"/>
          </a:xfrm>
          <a:prstGeom prst="rect">
            <a:avLst/>
          </a:prstGeom>
        </p:spPr>
      </p:pic>
      <p:pic>
        <p:nvPicPr>
          <p:cNvPr id="17" name="Picture 16" descr="image.png"/>
          <p:cNvPicPr>
            <a:picLocks noChangeAspect="1"/>
          </p:cNvPicPr>
          <p:nvPr/>
        </p:nvPicPr>
        <p:blipFill>
          <a:blip r:embed="rId14"/>
          <a:stretch>
            <a:fillRect/>
          </a:stretch>
        </p:blipFill>
        <p:spPr>
          <a:xfrm>
            <a:off x="400050" y="1952625"/>
            <a:ext cx="5486400" cy="3771900"/>
          </a:xfrm>
          <a:prstGeom prst="rect">
            <a:avLst/>
          </a:prstGeom>
        </p:spPr>
      </p:pic>
      <p:pic>
        <p:nvPicPr>
          <p:cNvPr id="20" name="Picture 19">
            <a:extLst>
              <a:ext uri="{FF2B5EF4-FFF2-40B4-BE49-F238E27FC236}">
                <a16:creationId xmlns:a16="http://schemas.microsoft.com/office/drawing/2014/main" id="{270BFBEB-04E7-2CEC-27AD-60A08CC89809}"/>
              </a:ext>
            </a:extLst>
          </p:cNvPr>
          <p:cNvPicPr>
            <a:picLocks noChangeAspect="1"/>
          </p:cNvPicPr>
          <p:nvPr/>
        </p:nvPicPr>
        <p:blipFill>
          <a:blip r:embed="rId15"/>
          <a:stretch>
            <a:fillRect/>
          </a:stretch>
        </p:blipFill>
        <p:spPr>
          <a:xfrm>
            <a:off x="9321941" y="0"/>
            <a:ext cx="2870059" cy="1019079"/>
          </a:xfrm>
          <a:prstGeom prst="rect">
            <a:avLst/>
          </a:prstGeom>
        </p:spPr>
      </p:pic>
      <p:pic>
        <p:nvPicPr>
          <p:cNvPr id="22" name="Picture 21">
            <a:extLst>
              <a:ext uri="{FF2B5EF4-FFF2-40B4-BE49-F238E27FC236}">
                <a16:creationId xmlns:a16="http://schemas.microsoft.com/office/drawing/2014/main" id="{AD83D623-0599-2528-9451-B56247DE5F58}"/>
              </a:ext>
            </a:extLst>
          </p:cNvPr>
          <p:cNvPicPr>
            <a:picLocks noChangeAspect="1"/>
          </p:cNvPicPr>
          <p:nvPr/>
        </p:nvPicPr>
        <p:blipFill>
          <a:blip r:embed="rId16"/>
          <a:stretch>
            <a:fillRect/>
          </a:stretch>
        </p:blipFill>
        <p:spPr>
          <a:xfrm>
            <a:off x="6330626" y="1933575"/>
            <a:ext cx="5461324" cy="3810000"/>
          </a:xfrm>
          <a:prstGeom prst="rect">
            <a:avLst/>
          </a:prstGeom>
        </p:spPr>
      </p:pic>
      <p:sp>
        <p:nvSpPr>
          <p:cNvPr id="11" name="TextBox 10">
            <a:extLst>
              <a:ext uri="{FF2B5EF4-FFF2-40B4-BE49-F238E27FC236}">
                <a16:creationId xmlns:a16="http://schemas.microsoft.com/office/drawing/2014/main" id="{EDDF3EBF-AD3D-87AA-39AA-00C93C3AE36D}"/>
              </a:ext>
            </a:extLst>
          </p:cNvPr>
          <p:cNvSpPr txBox="1"/>
          <p:nvPr/>
        </p:nvSpPr>
        <p:spPr>
          <a:xfrm>
            <a:off x="2623584" y="653831"/>
            <a:ext cx="6097772" cy="646331"/>
          </a:xfrm>
          <a:prstGeom prst="rect">
            <a:avLst/>
          </a:prstGeom>
          <a:noFill/>
        </p:spPr>
        <p:txBody>
          <a:bodyPr wrap="square">
            <a:spAutoFit/>
          </a:bodyPr>
          <a:lstStyle/>
          <a:p>
            <a:r>
              <a:rPr lang="en-US" sz="1800" dirty="0">
                <a:hlinkClick r:id="rId17"/>
              </a:rPr>
              <a:t>https://drive.google.com/file/d/1xlCHq_maRsiIqmdQXVsxad6pYqJBEqmQ/view?usp=sharing</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66750"/>
          </a:xfrm>
          <a:prstGeom prst="rect">
            <a:avLst/>
          </a:prstGeom>
        </p:spPr>
      </p:pic>
      <p:sp>
        <p:nvSpPr>
          <p:cNvPr id="4" name="TextBox 3"/>
          <p:cNvSpPr txBox="1"/>
          <p:nvPr/>
        </p:nvSpPr>
        <p:spPr>
          <a:xfrm>
            <a:off x="381000" y="180975"/>
            <a:ext cx="3371850" cy="276225"/>
          </a:xfrm>
          <a:prstGeom prst="rect">
            <a:avLst/>
          </a:prstGeom>
          <a:noFill/>
        </p:spPr>
        <p:txBody>
          <a:bodyPr wrap="square" lIns="0" tIns="0" rIns="0" bIns="0" anchor="t">
            <a:spAutoFit/>
          </a:bodyPr>
          <a:lstStyle/>
          <a:p>
            <a:pPr algn="l"/>
            <a:r>
              <a:rPr sz="1800" b="0" i="0" u="none">
                <a:solidFill>
                  <a:srgbClr val="1E293B"/>
                </a:solidFill>
                <a:latin typeface="Inter SemiBold"/>
              </a:rPr>
              <a:t>CORE SYSTEM ADVANTAGES</a:t>
            </a:r>
          </a:p>
        </p:txBody>
      </p:sp>
      <p:pic>
        <p:nvPicPr>
          <p:cNvPr id="6" name="Picture 5" descr="image.png"/>
          <p:cNvPicPr>
            <a:picLocks noChangeAspect="1"/>
          </p:cNvPicPr>
          <p:nvPr/>
        </p:nvPicPr>
        <p:blipFill>
          <a:blip r:embed="rId4"/>
          <a:stretch>
            <a:fillRect/>
          </a:stretch>
        </p:blipFill>
        <p:spPr>
          <a:xfrm>
            <a:off x="381000" y="1047750"/>
            <a:ext cx="1333500" cy="1333500"/>
          </a:xfrm>
          <a:prstGeom prst="rect">
            <a:avLst/>
          </a:prstGeom>
        </p:spPr>
      </p:pic>
      <p:pic>
        <p:nvPicPr>
          <p:cNvPr id="7" name="Picture 6" descr="image.png"/>
          <p:cNvPicPr>
            <a:picLocks noChangeAspect="1"/>
          </p:cNvPicPr>
          <p:nvPr/>
        </p:nvPicPr>
        <p:blipFill>
          <a:blip r:embed="rId4"/>
          <a:stretch>
            <a:fillRect/>
          </a:stretch>
        </p:blipFill>
        <p:spPr>
          <a:xfrm>
            <a:off x="6334125" y="1047750"/>
            <a:ext cx="1333500" cy="1333500"/>
          </a:xfrm>
          <a:prstGeom prst="rect">
            <a:avLst/>
          </a:prstGeom>
        </p:spPr>
      </p:pic>
      <p:pic>
        <p:nvPicPr>
          <p:cNvPr id="8" name="Picture 7" descr="image.png"/>
          <p:cNvPicPr>
            <a:picLocks noChangeAspect="1"/>
          </p:cNvPicPr>
          <p:nvPr/>
        </p:nvPicPr>
        <p:blipFill>
          <a:blip r:embed="rId5"/>
          <a:stretch>
            <a:fillRect/>
          </a:stretch>
        </p:blipFill>
        <p:spPr>
          <a:xfrm>
            <a:off x="381000" y="4000500"/>
            <a:ext cx="1333500" cy="1333500"/>
          </a:xfrm>
          <a:prstGeom prst="rect">
            <a:avLst/>
          </a:prstGeom>
        </p:spPr>
      </p:pic>
      <p:pic>
        <p:nvPicPr>
          <p:cNvPr id="9" name="Picture 8" descr="image.png"/>
          <p:cNvPicPr>
            <a:picLocks noChangeAspect="1"/>
          </p:cNvPicPr>
          <p:nvPr/>
        </p:nvPicPr>
        <p:blipFill>
          <a:blip r:embed="rId4"/>
          <a:stretch>
            <a:fillRect/>
          </a:stretch>
        </p:blipFill>
        <p:spPr>
          <a:xfrm>
            <a:off x="6334125" y="4000500"/>
            <a:ext cx="1333500" cy="1333500"/>
          </a:xfrm>
          <a:prstGeom prst="rect">
            <a:avLst/>
          </a:prstGeom>
        </p:spPr>
      </p:pic>
      <p:pic>
        <p:nvPicPr>
          <p:cNvPr id="10" name="Picture 9" descr="image.png"/>
          <p:cNvPicPr>
            <a:picLocks noChangeAspect="1"/>
          </p:cNvPicPr>
          <p:nvPr/>
        </p:nvPicPr>
        <p:blipFill>
          <a:blip r:embed="rId6"/>
          <a:stretch>
            <a:fillRect/>
          </a:stretch>
        </p:blipFill>
        <p:spPr>
          <a:xfrm>
            <a:off x="666750" y="1333500"/>
            <a:ext cx="762000" cy="762000"/>
          </a:xfrm>
          <a:prstGeom prst="rect">
            <a:avLst/>
          </a:prstGeom>
        </p:spPr>
      </p:pic>
      <p:sp>
        <p:nvSpPr>
          <p:cNvPr id="11" name="TextBox 10"/>
          <p:cNvSpPr txBox="1"/>
          <p:nvPr/>
        </p:nvSpPr>
        <p:spPr>
          <a:xfrm>
            <a:off x="2000250" y="1047750"/>
            <a:ext cx="4050506" cy="685800"/>
          </a:xfrm>
          <a:prstGeom prst="rect">
            <a:avLst/>
          </a:prstGeom>
          <a:noFill/>
        </p:spPr>
        <p:txBody>
          <a:bodyPr wrap="square" lIns="0" tIns="0" rIns="0" bIns="0" anchor="t">
            <a:spAutoFit/>
          </a:bodyPr>
          <a:lstStyle/>
          <a:p>
            <a:pPr algn="l"/>
            <a:r>
              <a:rPr sz="2250" b="1" i="0" u="none">
                <a:solidFill>
                  <a:srgbClr val="0F172A"/>
                </a:solidFill>
                <a:latin typeface="Inter"/>
              </a:rPr>
              <a:t>Smart Weight-Based</a:t>
            </a:r>
            <a:r>
              <a:t>
</a:t>
            </a:r>
            <a:r>
              <a:rPr sz="2250" b="1" i="0" u="none">
                <a:solidFill>
                  <a:srgbClr val="0F172A"/>
                </a:solidFill>
                <a:latin typeface="Inter"/>
              </a:rPr>
              <a:t> Classification</a:t>
            </a:r>
          </a:p>
        </p:txBody>
      </p:sp>
      <p:sp>
        <p:nvSpPr>
          <p:cNvPr id="12" name="TextBox 11"/>
          <p:cNvSpPr txBox="1"/>
          <p:nvPr/>
        </p:nvSpPr>
        <p:spPr>
          <a:xfrm>
            <a:off x="2000250" y="1876425"/>
            <a:ext cx="3857625" cy="1257300"/>
          </a:xfrm>
          <a:prstGeom prst="rect">
            <a:avLst/>
          </a:prstGeom>
          <a:noFill/>
        </p:spPr>
        <p:txBody>
          <a:bodyPr wrap="square" lIns="0" tIns="0" rIns="0" bIns="0" anchor="t">
            <a:spAutoFit/>
          </a:bodyPr>
          <a:lstStyle/>
          <a:p>
            <a:pPr algn="l">
              <a:lnSpc>
                <a:spcPts val="2475"/>
              </a:lnSpc>
            </a:pPr>
            <a:r>
              <a:rPr sz="1650" b="0" i="0" u="none">
                <a:solidFill>
                  <a:srgbClr val="475569"/>
                </a:solidFill>
                <a:latin typeface="Inter"/>
              </a:rPr>
              <a:t>Exclusively reserves car bays for standard vehicles by actively rejecting underweight 3-wheelers and motorbikes.</a:t>
            </a:r>
          </a:p>
        </p:txBody>
      </p:sp>
      <p:pic>
        <p:nvPicPr>
          <p:cNvPr id="13" name="Picture 12" descr="image.png"/>
          <p:cNvPicPr>
            <a:picLocks noChangeAspect="1"/>
          </p:cNvPicPr>
          <p:nvPr/>
        </p:nvPicPr>
        <p:blipFill>
          <a:blip r:embed="rId7"/>
          <a:stretch>
            <a:fillRect/>
          </a:stretch>
        </p:blipFill>
        <p:spPr>
          <a:xfrm>
            <a:off x="6524625" y="1333500"/>
            <a:ext cx="952500" cy="762000"/>
          </a:xfrm>
          <a:prstGeom prst="rect">
            <a:avLst/>
          </a:prstGeom>
        </p:spPr>
      </p:pic>
      <p:sp>
        <p:nvSpPr>
          <p:cNvPr id="14" name="TextBox 13"/>
          <p:cNvSpPr txBox="1"/>
          <p:nvPr/>
        </p:nvSpPr>
        <p:spPr>
          <a:xfrm>
            <a:off x="7953375" y="1047750"/>
            <a:ext cx="4050506" cy="685800"/>
          </a:xfrm>
          <a:prstGeom prst="rect">
            <a:avLst/>
          </a:prstGeom>
          <a:noFill/>
        </p:spPr>
        <p:txBody>
          <a:bodyPr wrap="square" lIns="0" tIns="0" rIns="0" bIns="0" anchor="t">
            <a:spAutoFit/>
          </a:bodyPr>
          <a:lstStyle/>
          <a:p>
            <a:pPr algn="l"/>
            <a:r>
              <a:rPr sz="2250" b="1" i="0" u="none">
                <a:solidFill>
                  <a:srgbClr val="0F172A"/>
                </a:solidFill>
                <a:latin typeface="Inter"/>
              </a:rPr>
              <a:t>Automated Access</a:t>
            </a:r>
            <a:r>
              <a:t>
</a:t>
            </a:r>
            <a:r>
              <a:rPr sz="2250" b="1" i="0" u="none">
                <a:solidFill>
                  <a:srgbClr val="0F172A"/>
                </a:solidFill>
                <a:latin typeface="Inter"/>
              </a:rPr>
              <a:t> Control</a:t>
            </a:r>
          </a:p>
        </p:txBody>
      </p:sp>
      <p:sp>
        <p:nvSpPr>
          <p:cNvPr id="15" name="TextBox 14"/>
          <p:cNvSpPr txBox="1"/>
          <p:nvPr/>
        </p:nvSpPr>
        <p:spPr>
          <a:xfrm>
            <a:off x="7953375" y="1876425"/>
            <a:ext cx="3857625" cy="1257300"/>
          </a:xfrm>
          <a:prstGeom prst="rect">
            <a:avLst/>
          </a:prstGeom>
          <a:noFill/>
        </p:spPr>
        <p:txBody>
          <a:bodyPr wrap="square" lIns="0" tIns="0" rIns="0" bIns="0" anchor="t">
            <a:spAutoFit/>
          </a:bodyPr>
          <a:lstStyle/>
          <a:p>
            <a:pPr algn="l">
              <a:lnSpc>
                <a:spcPts val="2475"/>
              </a:lnSpc>
            </a:pPr>
            <a:r>
              <a:rPr sz="1650" b="0" i="0" u="none">
                <a:solidFill>
                  <a:srgbClr val="475569"/>
                </a:solidFill>
                <a:latin typeface="Inter"/>
              </a:rPr>
              <a:t>Seamlessly operates the barrier gate via precise motor control, eliminating the need for manual ticketing personnel.</a:t>
            </a:r>
          </a:p>
        </p:txBody>
      </p:sp>
      <p:pic>
        <p:nvPicPr>
          <p:cNvPr id="16" name="Picture 15" descr="image.png"/>
          <p:cNvPicPr>
            <a:picLocks noChangeAspect="1"/>
          </p:cNvPicPr>
          <p:nvPr/>
        </p:nvPicPr>
        <p:blipFill>
          <a:blip r:embed="rId8"/>
          <a:stretch>
            <a:fillRect/>
          </a:stretch>
        </p:blipFill>
        <p:spPr>
          <a:xfrm>
            <a:off x="666750" y="4286250"/>
            <a:ext cx="762000" cy="762000"/>
          </a:xfrm>
          <a:prstGeom prst="rect">
            <a:avLst/>
          </a:prstGeom>
        </p:spPr>
      </p:pic>
      <p:sp>
        <p:nvSpPr>
          <p:cNvPr id="17" name="TextBox 16"/>
          <p:cNvSpPr txBox="1"/>
          <p:nvPr/>
        </p:nvSpPr>
        <p:spPr>
          <a:xfrm>
            <a:off x="2000250" y="4000500"/>
            <a:ext cx="4050506" cy="685800"/>
          </a:xfrm>
          <a:prstGeom prst="rect">
            <a:avLst/>
          </a:prstGeom>
          <a:noFill/>
        </p:spPr>
        <p:txBody>
          <a:bodyPr wrap="square" lIns="0" tIns="0" rIns="0" bIns="0" anchor="t">
            <a:spAutoFit/>
          </a:bodyPr>
          <a:lstStyle/>
          <a:p>
            <a:pPr algn="l"/>
            <a:r>
              <a:rPr sz="2250" b="1" i="0" u="none">
                <a:solidFill>
                  <a:srgbClr val="0F172A"/>
                </a:solidFill>
                <a:latin typeface="Inter"/>
              </a:rPr>
              <a:t>Real-Time Occupancy</a:t>
            </a:r>
            <a:r>
              <a:t>
</a:t>
            </a:r>
            <a:r>
              <a:rPr sz="2250" b="1" i="0" u="none">
                <a:solidFill>
                  <a:srgbClr val="0F172A"/>
                </a:solidFill>
                <a:latin typeface="Inter"/>
              </a:rPr>
              <a:t> Tracking</a:t>
            </a:r>
          </a:p>
        </p:txBody>
      </p:sp>
      <p:sp>
        <p:nvSpPr>
          <p:cNvPr id="18" name="TextBox 17"/>
          <p:cNvSpPr txBox="1"/>
          <p:nvPr/>
        </p:nvSpPr>
        <p:spPr>
          <a:xfrm>
            <a:off x="2000250" y="4829175"/>
            <a:ext cx="3857625" cy="1257300"/>
          </a:xfrm>
          <a:prstGeom prst="rect">
            <a:avLst/>
          </a:prstGeom>
          <a:noFill/>
        </p:spPr>
        <p:txBody>
          <a:bodyPr wrap="square" lIns="0" tIns="0" rIns="0" bIns="0" anchor="t">
            <a:spAutoFit/>
          </a:bodyPr>
          <a:lstStyle/>
          <a:p>
            <a:pPr algn="l">
              <a:lnSpc>
                <a:spcPts val="2475"/>
              </a:lnSpc>
            </a:pPr>
            <a:r>
              <a:rPr sz="1650" b="0" i="0" u="none">
                <a:solidFill>
                  <a:srgbClr val="475569"/>
                </a:solidFill>
                <a:latin typeface="Inter"/>
              </a:rPr>
              <a:t>Provides instant visual feedback on bay availability through local LCD interfaces and cloud-synced IoT dashboards.</a:t>
            </a:r>
          </a:p>
        </p:txBody>
      </p:sp>
      <p:pic>
        <p:nvPicPr>
          <p:cNvPr id="19" name="Picture 18" descr="image.png"/>
          <p:cNvPicPr>
            <a:picLocks noChangeAspect="1"/>
          </p:cNvPicPr>
          <p:nvPr/>
        </p:nvPicPr>
        <p:blipFill>
          <a:blip r:embed="rId9"/>
          <a:stretch>
            <a:fillRect/>
          </a:stretch>
        </p:blipFill>
        <p:spPr>
          <a:xfrm>
            <a:off x="6524625" y="4286250"/>
            <a:ext cx="952500" cy="762000"/>
          </a:xfrm>
          <a:prstGeom prst="rect">
            <a:avLst/>
          </a:prstGeom>
        </p:spPr>
      </p:pic>
      <p:sp>
        <p:nvSpPr>
          <p:cNvPr id="20" name="TextBox 19"/>
          <p:cNvSpPr txBox="1"/>
          <p:nvPr/>
        </p:nvSpPr>
        <p:spPr>
          <a:xfrm>
            <a:off x="7953375" y="4000500"/>
            <a:ext cx="4050506" cy="342900"/>
          </a:xfrm>
          <a:prstGeom prst="rect">
            <a:avLst/>
          </a:prstGeom>
          <a:noFill/>
        </p:spPr>
        <p:txBody>
          <a:bodyPr wrap="square" lIns="0" tIns="0" rIns="0" bIns="0" anchor="t">
            <a:spAutoFit/>
          </a:bodyPr>
          <a:lstStyle/>
          <a:p>
            <a:pPr algn="l"/>
            <a:r>
              <a:rPr sz="2250" b="1" i="0" u="none">
                <a:solidFill>
                  <a:srgbClr val="0F172A"/>
                </a:solidFill>
                <a:latin typeface="Inter"/>
              </a:rPr>
              <a:t>Zero Manual Intervention</a:t>
            </a:r>
          </a:p>
        </p:txBody>
      </p:sp>
      <p:sp>
        <p:nvSpPr>
          <p:cNvPr id="21" name="TextBox 20"/>
          <p:cNvSpPr txBox="1"/>
          <p:nvPr/>
        </p:nvSpPr>
        <p:spPr>
          <a:xfrm>
            <a:off x="7953375" y="4486275"/>
            <a:ext cx="3857625" cy="1257300"/>
          </a:xfrm>
          <a:prstGeom prst="rect">
            <a:avLst/>
          </a:prstGeom>
          <a:noFill/>
        </p:spPr>
        <p:txBody>
          <a:bodyPr wrap="square" lIns="0" tIns="0" rIns="0" bIns="0" anchor="t">
            <a:spAutoFit/>
          </a:bodyPr>
          <a:lstStyle/>
          <a:p>
            <a:pPr algn="l">
              <a:lnSpc>
                <a:spcPts val="2475"/>
              </a:lnSpc>
            </a:pPr>
            <a:r>
              <a:rPr sz="1650" b="0" i="0" u="none">
                <a:solidFill>
                  <a:srgbClr val="475569"/>
                </a:solidFill>
                <a:latin typeface="Inter"/>
              </a:rPr>
              <a:t>Creates a fully autonomous loop from vehicle approach to bay assignment, optimizing flow and reducing operational friction.</a:t>
            </a:r>
          </a:p>
        </p:txBody>
      </p:sp>
      <p:pic>
        <p:nvPicPr>
          <p:cNvPr id="23" name="Picture 22">
            <a:extLst>
              <a:ext uri="{FF2B5EF4-FFF2-40B4-BE49-F238E27FC236}">
                <a16:creationId xmlns:a16="http://schemas.microsoft.com/office/drawing/2014/main" id="{3D25EC20-A282-4DCD-4FDA-E8DF59F73B42}"/>
              </a:ext>
            </a:extLst>
          </p:cNvPr>
          <p:cNvPicPr>
            <a:picLocks noChangeAspect="1"/>
          </p:cNvPicPr>
          <p:nvPr/>
        </p:nvPicPr>
        <p:blipFill>
          <a:blip r:embed="rId10"/>
          <a:stretch>
            <a:fillRect/>
          </a:stretch>
        </p:blipFill>
        <p:spPr>
          <a:xfrm>
            <a:off x="9321941" y="-42767"/>
            <a:ext cx="2870059" cy="6667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81000" y="3667125"/>
            <a:ext cx="3905250" cy="2238375"/>
          </a:xfrm>
          <a:prstGeom prst="rect">
            <a:avLst/>
          </a:prstGeom>
        </p:spPr>
      </p:pic>
      <p:pic>
        <p:nvPicPr>
          <p:cNvPr id="4" name="Picture 3" descr="image.png"/>
          <p:cNvPicPr>
            <a:picLocks noChangeAspect="1"/>
          </p:cNvPicPr>
          <p:nvPr/>
        </p:nvPicPr>
        <p:blipFill>
          <a:blip r:embed="rId4"/>
          <a:stretch>
            <a:fillRect/>
          </a:stretch>
        </p:blipFill>
        <p:spPr>
          <a:xfrm>
            <a:off x="4143375" y="2547937"/>
            <a:ext cx="3905250" cy="3357562"/>
          </a:xfrm>
          <a:prstGeom prst="rect">
            <a:avLst/>
          </a:prstGeom>
        </p:spPr>
      </p:pic>
      <p:pic>
        <p:nvPicPr>
          <p:cNvPr id="5" name="Picture 4" descr="image.png"/>
          <p:cNvPicPr>
            <a:picLocks noChangeAspect="1"/>
          </p:cNvPicPr>
          <p:nvPr/>
        </p:nvPicPr>
        <p:blipFill>
          <a:blip r:embed="rId5"/>
          <a:stretch>
            <a:fillRect/>
          </a:stretch>
        </p:blipFill>
        <p:spPr>
          <a:xfrm>
            <a:off x="7905750" y="1428750"/>
            <a:ext cx="4048125" cy="4476750"/>
          </a:xfrm>
          <a:prstGeom prst="rect">
            <a:avLst/>
          </a:prstGeom>
        </p:spPr>
      </p:pic>
      <p:pic>
        <p:nvPicPr>
          <p:cNvPr id="6" name="Picture 5" descr="image.png"/>
          <p:cNvPicPr>
            <a:picLocks noChangeAspect="1"/>
          </p:cNvPicPr>
          <p:nvPr/>
        </p:nvPicPr>
        <p:blipFill>
          <a:blip r:embed="rId6"/>
          <a:stretch>
            <a:fillRect/>
          </a:stretch>
        </p:blipFill>
        <p:spPr>
          <a:xfrm>
            <a:off x="714375" y="4191000"/>
            <a:ext cx="3381375" cy="1371600"/>
          </a:xfrm>
          <a:prstGeom prst="rect">
            <a:avLst/>
          </a:prstGeom>
        </p:spPr>
      </p:pic>
      <p:pic>
        <p:nvPicPr>
          <p:cNvPr id="7" name="Picture 6" descr="image.png"/>
          <p:cNvPicPr>
            <a:picLocks noChangeAspect="1"/>
          </p:cNvPicPr>
          <p:nvPr/>
        </p:nvPicPr>
        <p:blipFill>
          <a:blip r:embed="rId7"/>
          <a:stretch>
            <a:fillRect/>
          </a:stretch>
        </p:blipFill>
        <p:spPr>
          <a:xfrm>
            <a:off x="4476750" y="3071812"/>
            <a:ext cx="3381375" cy="1371600"/>
          </a:xfrm>
          <a:prstGeom prst="rect">
            <a:avLst/>
          </a:prstGeom>
        </p:spPr>
      </p:pic>
      <p:pic>
        <p:nvPicPr>
          <p:cNvPr id="8" name="Picture 7" descr="image.png"/>
          <p:cNvPicPr>
            <a:picLocks noChangeAspect="1"/>
          </p:cNvPicPr>
          <p:nvPr/>
        </p:nvPicPr>
        <p:blipFill>
          <a:blip r:embed="rId8"/>
          <a:stretch>
            <a:fillRect/>
          </a:stretch>
        </p:blipFill>
        <p:spPr>
          <a:xfrm>
            <a:off x="8239125" y="1952625"/>
            <a:ext cx="3381375" cy="2609850"/>
          </a:xfrm>
          <a:prstGeom prst="rect">
            <a:avLst/>
          </a:prstGeom>
        </p:spPr>
      </p:pic>
      <p:pic>
        <p:nvPicPr>
          <p:cNvPr id="9" name="Picture 8" descr="image.png"/>
          <p:cNvPicPr>
            <a:picLocks noChangeAspect="1"/>
          </p:cNvPicPr>
          <p:nvPr/>
        </p:nvPicPr>
        <p:blipFill>
          <a:blip r:embed="rId9"/>
          <a:stretch>
            <a:fillRect/>
          </a:stretch>
        </p:blipFill>
        <p:spPr>
          <a:xfrm>
            <a:off x="0" y="0"/>
            <a:ext cx="12192000" cy="666750"/>
          </a:xfrm>
          <a:prstGeom prst="rect">
            <a:avLst/>
          </a:prstGeom>
        </p:spPr>
      </p:pic>
      <p:sp>
        <p:nvSpPr>
          <p:cNvPr id="10" name="TextBox 9"/>
          <p:cNvSpPr txBox="1"/>
          <p:nvPr/>
        </p:nvSpPr>
        <p:spPr>
          <a:xfrm>
            <a:off x="381000" y="180975"/>
            <a:ext cx="4710112" cy="276225"/>
          </a:xfrm>
          <a:prstGeom prst="rect">
            <a:avLst/>
          </a:prstGeom>
          <a:noFill/>
        </p:spPr>
        <p:txBody>
          <a:bodyPr wrap="square" lIns="0" tIns="0" rIns="0" bIns="0" anchor="t">
            <a:spAutoFit/>
          </a:bodyPr>
          <a:lstStyle/>
          <a:p>
            <a:pPr algn="l"/>
            <a:r>
              <a:rPr sz="1800" b="0" i="0" u="none">
                <a:solidFill>
                  <a:srgbClr val="1E293B"/>
                </a:solidFill>
                <a:latin typeface="Inter SemiBold"/>
              </a:rPr>
              <a:t>PROJECT ROADMAP: PATH TO REVIEW-2</a:t>
            </a:r>
          </a:p>
        </p:txBody>
      </p:sp>
      <p:pic>
        <p:nvPicPr>
          <p:cNvPr id="11" name="Picture 10" descr="image.png"/>
          <p:cNvPicPr>
            <a:picLocks noChangeAspect="1"/>
          </p:cNvPicPr>
          <p:nvPr/>
        </p:nvPicPr>
        <p:blipFill>
          <a:blip r:embed="rId10"/>
          <a:stretch>
            <a:fillRect/>
          </a:stretch>
        </p:blipFill>
        <p:spPr>
          <a:xfrm>
            <a:off x="10020300" y="80962"/>
            <a:ext cx="1790700" cy="476250"/>
          </a:xfrm>
          <a:prstGeom prst="rect">
            <a:avLst/>
          </a:prstGeom>
        </p:spPr>
      </p:pic>
      <p:sp>
        <p:nvSpPr>
          <p:cNvPr id="12" name="TextBox 11"/>
          <p:cNvSpPr txBox="1"/>
          <p:nvPr/>
        </p:nvSpPr>
        <p:spPr>
          <a:xfrm>
            <a:off x="435137" y="2809875"/>
            <a:ext cx="3762375" cy="647700"/>
          </a:xfrm>
          <a:prstGeom prst="rect">
            <a:avLst/>
          </a:prstGeom>
          <a:noFill/>
        </p:spPr>
        <p:txBody>
          <a:bodyPr wrap="square" lIns="0" tIns="0" rIns="0" bIns="0" anchor="t">
            <a:spAutoFit/>
          </a:bodyPr>
          <a:lstStyle/>
          <a:p>
            <a:pPr algn="l"/>
            <a:r>
              <a:rPr sz="2100" b="1" i="0" u="none" dirty="0">
                <a:solidFill>
                  <a:srgbClr val="0F172A"/>
                </a:solidFill>
                <a:latin typeface="Inter"/>
              </a:rPr>
              <a:t>Review-1 Phase</a:t>
            </a:r>
            <a:r>
              <a:rPr dirty="0"/>
              <a:t>
</a:t>
            </a:r>
            <a:r>
              <a:rPr sz="2100" b="1" i="0" u="none" dirty="0">
                <a:solidFill>
                  <a:srgbClr val="0F172A"/>
                </a:solidFill>
                <a:latin typeface="Inter"/>
              </a:rPr>
              <a:t> (Completed)</a:t>
            </a:r>
          </a:p>
        </p:txBody>
      </p:sp>
      <p:sp>
        <p:nvSpPr>
          <p:cNvPr id="13" name="TextBox 12"/>
          <p:cNvSpPr txBox="1"/>
          <p:nvPr/>
        </p:nvSpPr>
        <p:spPr>
          <a:xfrm>
            <a:off x="4119562" y="1795462"/>
            <a:ext cx="3762375" cy="647700"/>
          </a:xfrm>
          <a:prstGeom prst="rect">
            <a:avLst/>
          </a:prstGeom>
          <a:noFill/>
        </p:spPr>
        <p:txBody>
          <a:bodyPr wrap="square" lIns="0" tIns="0" rIns="0" bIns="0" anchor="t">
            <a:spAutoFit/>
          </a:bodyPr>
          <a:lstStyle/>
          <a:p>
            <a:pPr algn="l"/>
            <a:r>
              <a:rPr sz="2100" b="1" i="0" u="none" dirty="0">
                <a:solidFill>
                  <a:srgbClr val="0F172A"/>
                </a:solidFill>
                <a:latin typeface="Inter"/>
              </a:rPr>
              <a:t>Calibration Phase</a:t>
            </a:r>
            <a:r>
              <a:rPr dirty="0"/>
              <a:t>
</a:t>
            </a:r>
            <a:r>
              <a:rPr sz="2100" b="1" i="0" u="none" dirty="0">
                <a:solidFill>
                  <a:srgbClr val="0F172A"/>
                </a:solidFill>
                <a:latin typeface="Inter"/>
              </a:rPr>
              <a:t> (In Progress)</a:t>
            </a:r>
          </a:p>
        </p:txBody>
      </p:sp>
      <p:sp>
        <p:nvSpPr>
          <p:cNvPr id="14" name="TextBox 13"/>
          <p:cNvSpPr txBox="1"/>
          <p:nvPr/>
        </p:nvSpPr>
        <p:spPr>
          <a:xfrm>
            <a:off x="6568751" y="1000125"/>
            <a:ext cx="5242249" cy="647700"/>
          </a:xfrm>
          <a:prstGeom prst="rect">
            <a:avLst/>
          </a:prstGeom>
          <a:noFill/>
        </p:spPr>
        <p:txBody>
          <a:bodyPr wrap="square" lIns="0" tIns="0" rIns="0" bIns="0" anchor="t">
            <a:spAutoFit/>
          </a:bodyPr>
          <a:lstStyle/>
          <a:p>
            <a:pPr algn="l"/>
            <a:r>
              <a:rPr sz="2100" b="1" i="0" u="none" dirty="0">
                <a:solidFill>
                  <a:srgbClr val="0F172A"/>
                </a:solidFill>
                <a:latin typeface="Inter"/>
              </a:rPr>
              <a:t>Review-2 Deliverable</a:t>
            </a:r>
            <a:r>
              <a:rPr dirty="0"/>
              <a:t>
</a:t>
            </a:r>
            <a:r>
              <a:rPr sz="2100" b="1" i="0" u="none" dirty="0">
                <a:solidFill>
                  <a:srgbClr val="0F172A"/>
                </a:solidFill>
                <a:latin typeface="Inter"/>
              </a:rPr>
              <a:t> (Upcoming)</a:t>
            </a:r>
          </a:p>
        </p:txBody>
      </p:sp>
      <p:sp>
        <p:nvSpPr>
          <p:cNvPr id="15" name="TextBox 14"/>
          <p:cNvSpPr txBox="1"/>
          <p:nvPr/>
        </p:nvSpPr>
        <p:spPr>
          <a:xfrm>
            <a:off x="8429625" y="3629025"/>
            <a:ext cx="2857500" cy="742950"/>
          </a:xfrm>
          <a:prstGeom prst="rect">
            <a:avLst/>
          </a:prstGeom>
          <a:noFill/>
        </p:spPr>
        <p:txBody>
          <a:bodyPr wrap="square" lIns="0" tIns="0" rIns="0" bIns="0" anchor="t">
            <a:spAutoFit/>
          </a:bodyPr>
          <a:lstStyle/>
          <a:p>
            <a:pPr algn="l"/>
            <a:r>
              <a:rPr sz="1650" b="0" i="1" u="none">
                <a:solidFill>
                  <a:srgbClr val="334155"/>
                </a:solidFill>
                <a:latin typeface="Inter"/>
              </a:rPr>
              <a:t>Ready for subsequent integration. Opening the floor for technical review.</a:t>
            </a:r>
          </a:p>
        </p:txBody>
      </p:sp>
      <p:pic>
        <p:nvPicPr>
          <p:cNvPr id="17" name="Picture 16">
            <a:extLst>
              <a:ext uri="{FF2B5EF4-FFF2-40B4-BE49-F238E27FC236}">
                <a16:creationId xmlns:a16="http://schemas.microsoft.com/office/drawing/2014/main" id="{FA211F74-3672-7640-C77B-613EC59A845A}"/>
              </a:ext>
            </a:extLst>
          </p:cNvPr>
          <p:cNvPicPr>
            <a:picLocks noChangeAspect="1"/>
          </p:cNvPicPr>
          <p:nvPr/>
        </p:nvPicPr>
        <p:blipFill>
          <a:blip r:embed="rId11"/>
          <a:stretch>
            <a:fillRect/>
          </a:stretch>
        </p:blipFill>
        <p:spPr>
          <a:xfrm>
            <a:off x="9321941" y="0"/>
            <a:ext cx="2870059" cy="10190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2543175"/>
          </a:xfrm>
          <a:prstGeom prst="rect">
            <a:avLst/>
          </a:prstGeom>
        </p:spPr>
      </p:pic>
      <p:sp>
        <p:nvSpPr>
          <p:cNvPr id="4" name="TextBox 3"/>
          <p:cNvSpPr txBox="1"/>
          <p:nvPr/>
        </p:nvSpPr>
        <p:spPr>
          <a:xfrm>
            <a:off x="4191000" y="3681413"/>
            <a:ext cx="4110513" cy="1266825"/>
          </a:xfrm>
          <a:prstGeom prst="rect">
            <a:avLst/>
          </a:prstGeom>
          <a:noFill/>
        </p:spPr>
        <p:txBody>
          <a:bodyPr wrap="square" lIns="0" tIns="0" rIns="0" bIns="0" anchor="t">
            <a:spAutoFit/>
          </a:bodyPr>
          <a:lstStyle/>
          <a:p>
            <a:pPr algn="ctr"/>
            <a:r>
              <a:rPr sz="6750" b="1" i="0" u="none" dirty="0">
                <a:solidFill>
                  <a:srgbClr val="1E293B"/>
                </a:solidFill>
                <a:latin typeface="Oswald"/>
              </a:rPr>
              <a:t>THANK YOU</a:t>
            </a:r>
          </a:p>
        </p:txBody>
      </p:sp>
      <p:sp>
        <p:nvSpPr>
          <p:cNvPr id="5" name="TextBox 4"/>
          <p:cNvSpPr txBox="1"/>
          <p:nvPr/>
        </p:nvSpPr>
        <p:spPr>
          <a:xfrm>
            <a:off x="4759293" y="5203177"/>
            <a:ext cx="2524125" cy="419100"/>
          </a:xfrm>
          <a:prstGeom prst="rect">
            <a:avLst/>
          </a:prstGeom>
          <a:noFill/>
        </p:spPr>
        <p:txBody>
          <a:bodyPr wrap="square" lIns="0" tIns="0" rIns="0" bIns="0" anchor="t">
            <a:spAutoFit/>
          </a:bodyPr>
          <a:lstStyle/>
          <a:p>
            <a:pPr algn="ctr"/>
            <a:r>
              <a:rPr sz="2700" b="0" i="0" u="none" dirty="0">
                <a:solidFill>
                  <a:srgbClr val="475569"/>
                </a:solidFill>
                <a:latin typeface="Inter"/>
              </a:rPr>
              <a:t>Any Questions?</a:t>
            </a:r>
          </a:p>
        </p:txBody>
      </p:sp>
      <p:pic>
        <p:nvPicPr>
          <p:cNvPr id="7" name="Picture 6">
            <a:extLst>
              <a:ext uri="{FF2B5EF4-FFF2-40B4-BE49-F238E27FC236}">
                <a16:creationId xmlns:a16="http://schemas.microsoft.com/office/drawing/2014/main" id="{3DFAE3CA-C2EA-F798-374F-76194F8FF5B2}"/>
              </a:ext>
            </a:extLst>
          </p:cNvPr>
          <p:cNvPicPr>
            <a:picLocks noChangeAspect="1"/>
          </p:cNvPicPr>
          <p:nvPr/>
        </p:nvPicPr>
        <p:blipFill>
          <a:blip r:embed="rId3"/>
          <a:stretch>
            <a:fillRect/>
          </a:stretch>
        </p:blipFill>
        <p:spPr>
          <a:xfrm>
            <a:off x="65314" y="0"/>
            <a:ext cx="3178629" cy="11286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TotalTime>
  <Words>525</Words>
  <Application>Microsoft Office PowerPoint</Application>
  <PresentationFormat>Widescreen</PresentationFormat>
  <Paragraphs>66</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Inter</vt:lpstr>
      <vt:lpstr>Inter Medium</vt:lpstr>
      <vt:lpstr>Inter SemiBold</vt:lpstr>
      <vt:lpstr>Arial</vt:lpstr>
      <vt:lpstr>Calibri</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Administrator</dc:creator>
  <cp:keywords/>
  <dc:description>generated using python-pptx</dc:description>
  <cp:lastModifiedBy>24b11ee076</cp:lastModifiedBy>
  <cp:revision>2</cp:revision>
  <dcterms:created xsi:type="dcterms:W3CDTF">2013-01-27T09:14:16Z</dcterms:created>
  <dcterms:modified xsi:type="dcterms:W3CDTF">2026-09-15T05:21:04Z</dcterms:modified>
  <cp:category/>
</cp:coreProperties>
</file>